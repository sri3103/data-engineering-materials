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Today we'll cover Agile methodology — its values, principles, popular frameworks like Scrum and Kanban, and practical takeaways. ~45 minutes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agenda so attendees know the structure. Mention there will be time for Q&amp;A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waterfall staircase: each phase completes fully before the next begins. Emphasize the cost-of-change curve — changes found late are 10-100× more expensive. This is the problem Agile was created to solve.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Agile is NOT a single methodology — it's an umbrella term. The Agile Manifesto (2001) was signed by 17 software practitioners. Highlight the three pillars: iterative, incremental, collaborative.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each value pair aloud. Stress the word 'over' — it doesn't mean the right side has zero value. Ask the audience: which of these four resonates most with your current project?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read all 12 aloud — summarise each group theme. Key callout: principle #12 (reflect and adjust) is the engine that drives Agile improvement.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3-4 key rows rather than all 8. Highlight: 'Change' row shows the fundamental mindset shift. Ask: where does your current project sit on this spectrum?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Scrum is by far the most popular. We'll deep-dive into Scrum next, then cover Kanban briefly. SAFe is for scaling across many teams — mention it but don't go deep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Scrum is built on three pillars from empirical process control theory. Transparency = shared understanding. Inspection = check frequently. Adaptation = change course based on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 = the 'what', SM = the 'how (process)', Dev Team = the 'how (execution)'. Common mistake: treating the SM as a project manager. The SM is a servant-leader, not a boss.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event. Stress that all events are TIME-BOXED — they have a max duration, never longer. The retrospective is often the most valuable: without it, the team never improves.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the flow left to right. Emphasize that the output is a WORKING increment, not just progress. The retro feeds back into how the team works; the review feedback feeds back into WHAT the team builds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template aloud. Show the example. Walk through INVEST — if a story violates any of these, it needs splitting or rework. Mention story points briefly: relative sizing (1, 2, 3, 5, 8, 13) not hours.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Kanban = 'visual signal' in Japanese. The board IS the method. WIP limits are the key differentiator: they force the team to finish before starting. Kanban is great for support teams, ops, or anything with unpredictable inflow.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Velocity: sum of story points Done in a sprint. Emphasise it's for the team's OWN planning. Burndown: updated daily. Cycle time: key Kanban metric. Warn against weaponising metrics.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both sides. Agile isn't a silver bullet. The biggest challenge is cultural: Agile won't help if leadership still demands fixed scope, fixed timeline, AND fixed budget.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 by reading each takeaway. Reinforce: you don't need to adopt everything on day one. Pick one practice (standups, retrospectives, user stories) and build from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floor to questions. If time allows, ask the audience: what's one Agile practice you'd like to try on your current project?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097280"/>
            <a:ext cx="4114800" cy="4114800"/>
          </a:xfrm>
          <a:prstGeom prst="ellipse">
            <a:avLst/>
          </a:prstGeom>
          <a:solidFill>
            <a:srgbClr val="02C39A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2743200"/>
            <a:ext cx="3200400" cy="320040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64008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Agile Methodology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guide to iterative software delivery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3200400" y="3246120"/>
            <a:ext cx="274320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C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45-Minute Training Session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agenda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7863840" cy="411480"/>
          </a:xfrm>
          <a:prstGeom prst="roundRect">
            <a:avLst>
              <a:gd name="adj" fmla="val 11111"/>
            </a:avLst>
          </a:prstGeom>
          <a:solidFill>
            <a:srgbClr val="F0F9F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81328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4173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waterfall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58000" y="1417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1920240"/>
            <a:ext cx="786384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84248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19202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values &amp; principles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858000" y="1920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2423160"/>
            <a:ext cx="7863840" cy="411480"/>
          </a:xfrm>
          <a:prstGeom prst="roundRect">
            <a:avLst>
              <a:gd name="adj" fmla="val 11111"/>
            </a:avLst>
          </a:prstGeom>
          <a:solidFill>
            <a:srgbClr val="F0F9F8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487168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24231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vs waterfall comparison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858000" y="2423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40080" y="2926080"/>
            <a:ext cx="786384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990088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29260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framework deep dive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6858000" y="2926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40080" y="3429000"/>
            <a:ext cx="7863840" cy="411480"/>
          </a:xfrm>
          <a:prstGeom prst="roundRect">
            <a:avLst>
              <a:gd name="adj" fmla="val 11111"/>
            </a:avLst>
          </a:prstGeom>
          <a:solidFill>
            <a:srgbClr val="F0F9F8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493008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80160" y="34290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 &amp; estimation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6858000" y="3429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640080" y="3931920"/>
            <a:ext cx="786384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995928"/>
            <a:ext cx="274320" cy="2743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280160" y="39319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&amp; metrics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6858000" y="3931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640080" y="4434840"/>
            <a:ext cx="7863840" cy="411480"/>
          </a:xfrm>
          <a:prstGeom prst="roundRect">
            <a:avLst>
              <a:gd name="adj" fmla="val 11111"/>
            </a:avLst>
          </a:prstGeom>
          <a:solidFill>
            <a:srgbClr val="F0F9F8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498848"/>
            <a:ext cx="274320" cy="27432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280160" y="4434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and wrap-up</a:t>
            </a:r>
            <a:endParaRPr lang="en-US" sz="1500" dirty="0"/>
          </a:p>
        </p:txBody>
      </p:sp>
      <p:sp>
        <p:nvSpPr>
          <p:cNvPr id="31" name="Text 22"/>
          <p:cNvSpPr/>
          <p:nvPr/>
        </p:nvSpPr>
        <p:spPr>
          <a:xfrm>
            <a:off x="6858000" y="44348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with waterfall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phases leave no room for change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E8E0E0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63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 flipV="1">
            <a:off x="2103120" y="1709928"/>
            <a:ext cx="91440" cy="640080"/>
          </a:xfrm>
          <a:prstGeom prst="line">
            <a:avLst/>
          </a:prstGeom>
          <a:noFill/>
          <a:ln w="19050">
            <a:solidFill>
              <a:srgbClr val="BBAA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2103120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E8E0E0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94560" y="21031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flipV="1">
            <a:off x="3657600" y="2350008"/>
            <a:ext cx="91440" cy="640080"/>
          </a:xfrm>
          <a:prstGeom prst="line">
            <a:avLst/>
          </a:prstGeom>
          <a:noFill/>
          <a:ln w="19050">
            <a:solidFill>
              <a:srgbClr val="BBAA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49040" y="2743200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E8E0E0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49040" y="27432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 flipV="1">
            <a:off x="5212080" y="2990088"/>
            <a:ext cx="91440" cy="640080"/>
          </a:xfrm>
          <a:prstGeom prst="line">
            <a:avLst/>
          </a:prstGeom>
          <a:noFill/>
          <a:ln w="19050">
            <a:solidFill>
              <a:srgbClr val="BBAA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0" y="3383280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E8E0E0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03520" y="33832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 flipV="1">
            <a:off x="6766560" y="3630168"/>
            <a:ext cx="91440" cy="640080"/>
          </a:xfrm>
          <a:prstGeom prst="line">
            <a:avLst/>
          </a:prstGeom>
          <a:noFill/>
          <a:ln w="19050">
            <a:solidFill>
              <a:srgbClr val="BBAA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0" y="4023360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FDDCDC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0" y="40233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200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sees the product only at the very end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5661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requests are expensive and disruptive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3931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happens late — bugs found too late to fix cheaply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4297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of delivering something nobody wanted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3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45720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Agile?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1097280" y="228600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is a mindset and set of practices for software development that embraces change, delivers value incrementally, and puts people and collaboration at the centre of every decision.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1097280" y="3657600"/>
            <a:ext cx="2194560" cy="1097280"/>
          </a:xfrm>
          <a:prstGeom prst="roundRect">
            <a:avLst>
              <a:gd name="adj" fmla="val 8333"/>
            </a:avLst>
          </a:prstGeom>
          <a:solidFill>
            <a:srgbClr val="028090">
              <a:alpha val="60000"/>
            </a:srgbClr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374904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97280" y="4206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097280" y="446227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short cycles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3657600" y="3657600"/>
            <a:ext cx="2194560" cy="1097280"/>
          </a:xfrm>
          <a:prstGeom prst="roundRect">
            <a:avLst>
              <a:gd name="adj" fmla="val 8333"/>
            </a:avLst>
          </a:prstGeom>
          <a:solidFill>
            <a:srgbClr val="028090">
              <a:alpha val="60000"/>
            </a:srgbClr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374904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657600" y="4206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3657600" y="446227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value each sprint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6217920" y="3657600"/>
            <a:ext cx="2194560" cy="1097280"/>
          </a:xfrm>
          <a:prstGeom prst="roundRect">
            <a:avLst>
              <a:gd name="adj" fmla="val 8333"/>
            </a:avLst>
          </a:prstGeom>
          <a:solidFill>
            <a:srgbClr val="028090">
              <a:alpha val="60000"/>
            </a:srgbClr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3749040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17920" y="4206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6217920" y="446227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team + customer loop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Agile Manifesto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values that changed software development (2001)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657600" cy="640080"/>
          </a:xfrm>
          <a:prstGeom prst="roundRect">
            <a:avLst>
              <a:gd name="adj" fmla="val 11429"/>
            </a:avLst>
          </a:prstGeom>
          <a:solidFill>
            <a:srgbClr val="D4F5E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 &amp; interactions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297680" y="14630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D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463040"/>
            <a:ext cx="3657600" cy="640080"/>
          </a:xfrm>
          <a:prstGeom prst="roundRect">
            <a:avLst>
              <a:gd name="adj" fmla="val 11429"/>
            </a:avLst>
          </a:prstGeom>
          <a:solidFill>
            <a:srgbClr val="F5F0F0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4630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&amp; tools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331720"/>
            <a:ext cx="3657600" cy="640080"/>
          </a:xfrm>
          <a:prstGeom prst="roundRect">
            <a:avLst>
              <a:gd name="adj" fmla="val 11429"/>
            </a:avLst>
          </a:prstGeom>
          <a:solidFill>
            <a:srgbClr val="D4F5E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317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software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97680" y="23317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D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2331720"/>
            <a:ext cx="3657600" cy="640080"/>
          </a:xfrm>
          <a:prstGeom prst="roundRect">
            <a:avLst>
              <a:gd name="adj" fmla="val 11429"/>
            </a:avLst>
          </a:prstGeom>
          <a:solidFill>
            <a:srgbClr val="F5F0F0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23317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documentation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200400"/>
            <a:ext cx="3657600" cy="640080"/>
          </a:xfrm>
          <a:prstGeom prst="roundRect">
            <a:avLst>
              <a:gd name="adj" fmla="val 11429"/>
            </a:avLst>
          </a:prstGeom>
          <a:solidFill>
            <a:srgbClr val="D4F5E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004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collaboration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297680" y="32004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D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3200400"/>
            <a:ext cx="3657600" cy="640080"/>
          </a:xfrm>
          <a:prstGeom prst="roundRect">
            <a:avLst>
              <a:gd name="adj" fmla="val 11429"/>
            </a:avLst>
          </a:prstGeom>
          <a:solidFill>
            <a:srgbClr val="F5F0F0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32004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negotiation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069080"/>
            <a:ext cx="3657600" cy="640080"/>
          </a:xfrm>
          <a:prstGeom prst="roundRect">
            <a:avLst>
              <a:gd name="adj" fmla="val 11429"/>
            </a:avLst>
          </a:prstGeom>
          <a:solidFill>
            <a:srgbClr val="D4F5E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69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Responding to change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297680" y="40690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D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4069080"/>
            <a:ext cx="3657600" cy="640080"/>
          </a:xfrm>
          <a:prstGeom prst="roundRect">
            <a:avLst>
              <a:gd name="adj" fmla="val 11429"/>
            </a:avLst>
          </a:prstGeom>
          <a:solidFill>
            <a:srgbClr val="F5F0F0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4069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a plan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D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there is value in the items on the right, we value the items on the left more.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Agile Principles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into four themes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011680" cy="36118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280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value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Highest priority: satisfy the customer through early, continuous delivery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65176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Deliver working software frequently (weeks, not months)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361188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Working software is the primary measure of progress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1188720"/>
            <a:ext cx="2011680" cy="36118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0" y="1280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Embrace change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0" y="16916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Welcome changing requirements, even late in development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0" y="265176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Continuous attention to technical excellence and good design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361188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Simplicity — maximise the amount of work not done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188720"/>
            <a:ext cx="2011680" cy="36118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92040" y="1280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first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16916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Build projects around motivated individuals; trust them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265176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Face-to-face conversation is the most effective communication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361188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best work emerges from self-organising teams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03720" y="1188720"/>
            <a:ext cx="2011680" cy="36118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040880" y="1280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 &amp; improve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40880" y="16916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Business people and developers work together daily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40880" y="265176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Sustainable development — maintain a constant pace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40880" y="361188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Regularly reflect on how to become more effective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Agile vs waterfall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2194560" cy="411480"/>
          </a:xfrm>
          <a:prstGeom prst="roundRect">
            <a:avLst>
              <a:gd name="adj" fmla="val 13333"/>
            </a:avLst>
          </a:prstGeom>
          <a:solidFill>
            <a:srgbClr val="0B3D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017520" y="1051560"/>
            <a:ext cx="2743200" cy="411480"/>
          </a:xfrm>
          <a:prstGeom prst="roundRect">
            <a:avLst>
              <a:gd name="adj" fmla="val 13333"/>
            </a:avLst>
          </a:prstGeom>
          <a:solidFill>
            <a:srgbClr val="0B3D3D"/>
          </a:solidFill>
          <a:ln/>
        </p:spPr>
      </p:sp>
      <p:sp>
        <p:nvSpPr>
          <p:cNvPr id="6" name="Text 4"/>
          <p:cNvSpPr/>
          <p:nvPr/>
        </p:nvSpPr>
        <p:spPr>
          <a:xfrm>
            <a:off x="3017520" y="1051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0" y="1051560"/>
            <a:ext cx="2743200" cy="411480"/>
          </a:xfrm>
          <a:prstGeom prst="roundRect">
            <a:avLst>
              <a:gd name="adj" fmla="val 13333"/>
            </a:avLst>
          </a:prstGeom>
          <a:solidFill>
            <a:srgbClr val="0B3D3D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0" y="1051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1572768"/>
            <a:ext cx="2194560" cy="384048"/>
          </a:xfrm>
          <a:prstGeom prst="rect">
            <a:avLst/>
          </a:prstGeom>
          <a:solidFill>
            <a:srgbClr val="F0F9F8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1572768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17520" y="1572768"/>
            <a:ext cx="2743200" cy="384048"/>
          </a:xfrm>
          <a:prstGeom prst="rect">
            <a:avLst/>
          </a:prstGeom>
          <a:solidFill>
            <a:srgbClr val="F0F9F8"/>
          </a:solidFill>
          <a:ln/>
        </p:spPr>
      </p:sp>
      <p:sp>
        <p:nvSpPr>
          <p:cNvPr id="12" name="Text 10"/>
          <p:cNvSpPr/>
          <p:nvPr/>
        </p:nvSpPr>
        <p:spPr>
          <a:xfrm>
            <a:off x="3127248" y="157276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phases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0" y="1572768"/>
            <a:ext cx="2743200" cy="384048"/>
          </a:xfrm>
          <a:prstGeom prst="rect">
            <a:avLst/>
          </a:prstGeom>
          <a:solidFill>
            <a:srgbClr val="D4F5EC"/>
          </a:solidFill>
          <a:ln/>
        </p:spPr>
      </p:sp>
      <p:sp>
        <p:nvSpPr>
          <p:cNvPr id="14" name="Text 12"/>
          <p:cNvSpPr/>
          <p:nvPr/>
        </p:nvSpPr>
        <p:spPr>
          <a:xfrm>
            <a:off x="6053328" y="157276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sprints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1984248"/>
            <a:ext cx="21945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1984248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017520" y="1984248"/>
            <a:ext cx="27432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3127248" y="198424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upfront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0" y="1984248"/>
            <a:ext cx="2743200" cy="384048"/>
          </a:xfrm>
          <a:prstGeom prst="rect">
            <a:avLst/>
          </a:prstGeom>
          <a:solidFill>
            <a:srgbClr val="D4F5EC"/>
          </a:solidFill>
          <a:ln/>
        </p:spPr>
      </p:sp>
      <p:sp>
        <p:nvSpPr>
          <p:cNvPr id="20" name="Text 18"/>
          <p:cNvSpPr/>
          <p:nvPr/>
        </p:nvSpPr>
        <p:spPr>
          <a:xfrm>
            <a:off x="6053328" y="198424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Evolving, flexible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2395728"/>
            <a:ext cx="2194560" cy="384048"/>
          </a:xfrm>
          <a:prstGeom prst="rect">
            <a:avLst/>
          </a:prstGeom>
          <a:solidFill>
            <a:srgbClr val="F0F9F8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2395728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017520" y="2395728"/>
            <a:ext cx="2743200" cy="384048"/>
          </a:xfrm>
          <a:prstGeom prst="rect">
            <a:avLst/>
          </a:prstGeom>
          <a:solidFill>
            <a:srgbClr val="F0F9F8"/>
          </a:solidFill>
          <a:ln/>
        </p:spPr>
      </p:sp>
      <p:sp>
        <p:nvSpPr>
          <p:cNvPr id="24" name="Text 22"/>
          <p:cNvSpPr/>
          <p:nvPr/>
        </p:nvSpPr>
        <p:spPr>
          <a:xfrm>
            <a:off x="3127248" y="239572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release at the end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43600" y="2395728"/>
            <a:ext cx="2743200" cy="384048"/>
          </a:xfrm>
          <a:prstGeom prst="rect">
            <a:avLst/>
          </a:prstGeom>
          <a:solidFill>
            <a:srgbClr val="D4F5EC"/>
          </a:solidFill>
          <a:ln/>
        </p:spPr>
      </p:sp>
      <p:sp>
        <p:nvSpPr>
          <p:cNvPr id="26" name="Text 24"/>
          <p:cNvSpPr/>
          <p:nvPr/>
        </p:nvSpPr>
        <p:spPr>
          <a:xfrm>
            <a:off x="6053328" y="239572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increments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2807208"/>
            <a:ext cx="21945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" y="2807208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017520" y="2807208"/>
            <a:ext cx="27432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3127248" y="280720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implementation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0" y="2807208"/>
            <a:ext cx="2743200" cy="384048"/>
          </a:xfrm>
          <a:prstGeom prst="rect">
            <a:avLst/>
          </a:prstGeom>
          <a:solidFill>
            <a:srgbClr val="D4F5EC"/>
          </a:solidFill>
          <a:ln/>
        </p:spPr>
      </p:sp>
      <p:sp>
        <p:nvSpPr>
          <p:cNvPr id="32" name="Text 30"/>
          <p:cNvSpPr/>
          <p:nvPr/>
        </p:nvSpPr>
        <p:spPr>
          <a:xfrm>
            <a:off x="6053328" y="280720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Continuous, every sprint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0080" y="3218688"/>
            <a:ext cx="2194560" cy="384048"/>
          </a:xfrm>
          <a:prstGeom prst="rect">
            <a:avLst/>
          </a:prstGeom>
          <a:solidFill>
            <a:srgbClr val="F0F9F8"/>
          </a:solidFill>
          <a:ln/>
        </p:spPr>
      </p:sp>
      <p:sp>
        <p:nvSpPr>
          <p:cNvPr id="34" name="Text 32"/>
          <p:cNvSpPr/>
          <p:nvPr/>
        </p:nvSpPr>
        <p:spPr>
          <a:xfrm>
            <a:off x="749808" y="3218688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017520" y="3218688"/>
            <a:ext cx="2743200" cy="384048"/>
          </a:xfrm>
          <a:prstGeom prst="rect">
            <a:avLst/>
          </a:prstGeom>
          <a:solidFill>
            <a:srgbClr val="F0F9F8"/>
          </a:solidFill>
          <a:ln/>
        </p:spPr>
      </p:sp>
      <p:sp>
        <p:nvSpPr>
          <p:cNvPr id="36" name="Text 34"/>
          <p:cNvSpPr/>
          <p:nvPr/>
        </p:nvSpPr>
        <p:spPr>
          <a:xfrm>
            <a:off x="3127248" y="321868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Involved at start &amp; end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943600" y="3218688"/>
            <a:ext cx="2743200" cy="384048"/>
          </a:xfrm>
          <a:prstGeom prst="rect">
            <a:avLst/>
          </a:prstGeom>
          <a:solidFill>
            <a:srgbClr val="D4F5EC"/>
          </a:solidFill>
          <a:ln/>
        </p:spPr>
      </p:sp>
      <p:sp>
        <p:nvSpPr>
          <p:cNvPr id="38" name="Text 36"/>
          <p:cNvSpPr/>
          <p:nvPr/>
        </p:nvSpPr>
        <p:spPr>
          <a:xfrm>
            <a:off x="6053328" y="321868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Involved throughout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40080" y="3630168"/>
            <a:ext cx="21945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749808" y="3630168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017520" y="3630168"/>
            <a:ext cx="27432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3127248" y="363016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Expensive, resisted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943600" y="3630168"/>
            <a:ext cx="2743200" cy="384048"/>
          </a:xfrm>
          <a:prstGeom prst="rect">
            <a:avLst/>
          </a:prstGeom>
          <a:solidFill>
            <a:srgbClr val="D4F5EC"/>
          </a:solidFill>
          <a:ln/>
        </p:spPr>
      </p:sp>
      <p:sp>
        <p:nvSpPr>
          <p:cNvPr id="44" name="Text 42"/>
          <p:cNvSpPr/>
          <p:nvPr/>
        </p:nvSpPr>
        <p:spPr>
          <a:xfrm>
            <a:off x="6053328" y="363016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Expected, welcomed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40080" y="4041648"/>
            <a:ext cx="2194560" cy="384048"/>
          </a:xfrm>
          <a:prstGeom prst="rect">
            <a:avLst/>
          </a:prstGeom>
          <a:solidFill>
            <a:srgbClr val="F0F9F8"/>
          </a:solidFill>
          <a:ln/>
        </p:spPr>
      </p:sp>
      <p:sp>
        <p:nvSpPr>
          <p:cNvPr id="46" name="Text 44"/>
          <p:cNvSpPr/>
          <p:nvPr/>
        </p:nvSpPr>
        <p:spPr>
          <a:xfrm>
            <a:off x="749808" y="4041648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017520" y="4041648"/>
            <a:ext cx="2743200" cy="384048"/>
          </a:xfrm>
          <a:prstGeom prst="rect">
            <a:avLst/>
          </a:prstGeom>
          <a:solidFill>
            <a:srgbClr val="F0F9F8"/>
          </a:solidFill>
          <a:ln/>
        </p:spPr>
      </p:sp>
      <p:sp>
        <p:nvSpPr>
          <p:cNvPr id="48" name="Text 46"/>
          <p:cNvSpPr/>
          <p:nvPr/>
        </p:nvSpPr>
        <p:spPr>
          <a:xfrm>
            <a:off x="3127248" y="404164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 late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5943600" y="4041648"/>
            <a:ext cx="2743200" cy="384048"/>
          </a:xfrm>
          <a:prstGeom prst="rect">
            <a:avLst/>
          </a:prstGeom>
          <a:solidFill>
            <a:srgbClr val="D4F5EC"/>
          </a:solidFill>
          <a:ln/>
        </p:spPr>
      </p:sp>
      <p:sp>
        <p:nvSpPr>
          <p:cNvPr id="50" name="Text 48"/>
          <p:cNvSpPr/>
          <p:nvPr/>
        </p:nvSpPr>
        <p:spPr>
          <a:xfrm>
            <a:off x="6053328" y="404164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Surfaced early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40080" y="4453128"/>
            <a:ext cx="219456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749808" y="4453128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017520" y="4453128"/>
            <a:ext cx="27432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3127248" y="445312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Heavy, upfront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5943600" y="4453128"/>
            <a:ext cx="2743200" cy="384048"/>
          </a:xfrm>
          <a:prstGeom prst="rect">
            <a:avLst/>
          </a:prstGeom>
          <a:solidFill>
            <a:srgbClr val="D4F5EC"/>
          </a:solidFill>
          <a:ln/>
        </p:spPr>
      </p:sp>
      <p:sp>
        <p:nvSpPr>
          <p:cNvPr id="56" name="Text 54"/>
          <p:cNvSpPr/>
          <p:nvPr/>
        </p:nvSpPr>
        <p:spPr>
          <a:xfrm>
            <a:off x="6053328" y="445312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Lean, just enough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Popular Agile frameworks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is the mindset — these are the methods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78638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572768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463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554480" y="17830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Sprint-based, roles, ceremonies. Most widely adopted.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132320" y="14173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40080" y="2286000"/>
            <a:ext cx="78638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41448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2331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554480" y="26517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Flow-based, WIP limits, visual board. Great for ops/support.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132320" y="22860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640080" y="3154680"/>
            <a:ext cx="78638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310128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5448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554480" y="35204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programming, TDD, continuous integration. Engineering focus.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7132320" y="315468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2200" dirty="0"/>
          </a:p>
        </p:txBody>
      </p:sp>
      <p:sp>
        <p:nvSpPr>
          <p:cNvPr id="19" name="Shape 14"/>
          <p:cNvSpPr/>
          <p:nvPr/>
        </p:nvSpPr>
        <p:spPr>
          <a:xfrm>
            <a:off x="640080" y="4023360"/>
            <a:ext cx="78638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178808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54480" y="4069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1554480" y="43891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Agile Framework. For large enterprises with multiple teams.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132320" y="402336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~30%</a:t>
            </a:r>
            <a:endParaRPr lang="en-US" sz="2200" dirty="0"/>
          </a:p>
        </p:txBody>
      </p:sp>
      <p:sp>
        <p:nvSpPr>
          <p:cNvPr id="24" name="Text 18"/>
          <p:cNvSpPr/>
          <p:nvPr/>
        </p:nvSpPr>
        <p:spPr>
          <a:xfrm>
            <a:off x="640080" y="4709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percentages from the State of Agile report (approximate)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27432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Scrum framework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widely adopted Agile framework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31520" y="2651760"/>
            <a:ext cx="2468880" cy="2011680"/>
          </a:xfrm>
          <a:prstGeom prst="roundRect">
            <a:avLst>
              <a:gd name="adj" fmla="val 4545"/>
            </a:avLst>
          </a:prstGeom>
          <a:solidFill>
            <a:srgbClr val="0D5C5C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2834640"/>
            <a:ext cx="548640" cy="548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3474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914400" y="3840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ADA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sees the same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ADA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backlog, board, and burndown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3566160" y="2651760"/>
            <a:ext cx="2468880" cy="2011680"/>
          </a:xfrm>
          <a:prstGeom prst="roundRect">
            <a:avLst>
              <a:gd name="adj" fmla="val 4545"/>
            </a:avLst>
          </a:prstGeom>
          <a:solidFill>
            <a:srgbClr val="0D5C5C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2834640"/>
            <a:ext cx="548640" cy="5486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566160" y="3474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3749040" y="3840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ADA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progress at every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ADA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ceremony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6400800" y="2651760"/>
            <a:ext cx="2468880" cy="2011680"/>
          </a:xfrm>
          <a:prstGeom prst="roundRect">
            <a:avLst>
              <a:gd name="adj" fmla="val 4545"/>
            </a:avLst>
          </a:prstGeom>
          <a:solidFill>
            <a:srgbClr val="0D5C5C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834640"/>
            <a:ext cx="548640" cy="5486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400800" y="3474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6583680" y="3840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ADA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plans based on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ADA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learn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Scrum roles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accountabilities, no hierarchy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5880" y="1554480"/>
            <a:ext cx="914400" cy="914400"/>
          </a:xfrm>
          <a:prstGeom prst="ellipse">
            <a:avLst/>
          </a:prstGeom>
          <a:solidFill>
            <a:srgbClr val="D4F5E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73736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606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product backlog and prioritises items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3429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the customer / stakeholder voice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3840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what gets built and in what order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4251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or rejects sprint deliverables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37560" y="137160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206240" y="1554480"/>
            <a:ext cx="914400" cy="914400"/>
          </a:xfrm>
          <a:prstGeom prst="ellipse">
            <a:avLst/>
          </a:prstGeom>
          <a:solidFill>
            <a:srgbClr val="D4F5EC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737360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37560" y="2606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52044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Facilitates Scrum events and removes blockers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520440" y="3429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Coaches the team on Agile practices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520440" y="3840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Shields the team from external distractions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520440" y="4251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Promotes continuous improvement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217920" y="137160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086600" y="1554480"/>
            <a:ext cx="914400" cy="914400"/>
          </a:xfrm>
          <a:prstGeom prst="ellipse">
            <a:avLst/>
          </a:prstGeom>
          <a:solidFill>
            <a:srgbClr val="D4F5EC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737360"/>
            <a:ext cx="548640" cy="5486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217920" y="2606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Team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0080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(dev, QA, design, etc.)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400800" y="3429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Self-organising — decides how to do the work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6400800" y="3840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Collectively accountable for the sprint goal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6400800" y="4251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Ideally 3-9 members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Scrum events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time-boxed ceremonies that structure each sprint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316736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16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949440" y="118872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1-4 weeks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25880" y="14904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container for all work. Fixed-length iteration producing a potentially shippable increment.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938528"/>
            <a:ext cx="80467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066544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0665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1984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49440" y="1938528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 hrs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25880" y="2240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selects backlog items for the sprint and creates a plan to deliver them. Defines the sprint goal.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688336"/>
            <a:ext cx="80467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2816352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816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27340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Standup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49440" y="2688336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25880" y="29900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sync: what did I do yesterday? What will I do today? Any blockers? Same time, same place.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438144"/>
            <a:ext cx="80467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3566160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566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25880" y="34838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Review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49440" y="3438144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hrs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25880" y="373989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the increment to stakeholders. Collect feedback. Update the backlog based on what was learned.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187952"/>
            <a:ext cx="80467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31520" y="4315968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315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325880" y="4233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49440" y="4187952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1-1.5 hrs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325880" y="448970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reflects: what went well? What didn't? What will we improve next sprint?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sprint cycle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2-week sprint from planning to retrospective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E6F0F0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55448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91640" y="155448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874520" y="155448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D4F5EC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74520" y="155448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08960" y="155448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91840" y="155448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E6F0F0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155448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26280" y="155448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709160" y="155448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D4F5EC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09160" y="155448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Work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Standups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0" y="155448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26480" y="155448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E6F0F0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26480" y="155448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60920" y="155448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543800" y="155448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D4F5EC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543800" y="155448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spective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40480" y="2606040"/>
            <a:ext cx="0" cy="54864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11880" y="2971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8090"/>
                </a:solidFill>
              </a:rPr>
              <a:t>▼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286000" y="3246120"/>
            <a:ext cx="3108960" cy="640080"/>
          </a:xfrm>
          <a:prstGeom prst="roundRect">
            <a:avLst>
              <a:gd name="adj" fmla="val 11429"/>
            </a:avLst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2286000" y="32461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Potentially Shippable Increment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17920" y="324612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D4F5EC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32461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→ next sprint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4160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sprint produces working, tested software — not just documents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4480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backlog is continuously refined between sprints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4800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from the review directly shapes the next sprint's priorities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stories &amp; estimation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F0F9F8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 template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6002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D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</a:t>
            </a:r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&lt;role&gt;</a:t>
            </a:r>
            <a:pPr algn="ctr" indent="0" marL="0">
              <a:buNone/>
            </a:pPr>
            <a:r>
              <a:rPr lang="en-US" sz="1500" dirty="0">
                <a:solidFill>
                  <a:srgbClr val="3D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D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 </a:t>
            </a:r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&lt;feature&gt;</a:t>
            </a:r>
            <a:pPr algn="ctr" indent="0" marL="0">
              <a:buNone/>
            </a:pPr>
            <a:r>
              <a:rPr lang="en-US" sz="1500" dirty="0">
                <a:solidFill>
                  <a:srgbClr val="3D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D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that </a:t>
            </a:r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&lt;benefit&gt;</a:t>
            </a:r>
            <a:pPr algn="ctr" indent="0" marL="0">
              <a:buNone/>
            </a:pPr>
            <a:r>
              <a:rPr lang="en-US" sz="1500" dirty="0">
                <a:solidFill>
                  <a:srgbClr val="3D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FFFDF5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0" y="16002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returning customer, I want to see my order history, so that I can quickly reorder items I've bought before.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user stories follow INVEST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60120" y="36118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416052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43891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dependencies on other stories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331720" y="36118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233172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011680" y="416052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Negotiable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65960" y="43891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can be discussed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703320" y="36118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370332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383280" y="416052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Valuable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37560" y="43891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value to the user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74920" y="36118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507492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754880" y="416052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Estimable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09160" y="43891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can size the effort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46520" y="36118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644652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126480" y="416052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80760" y="43891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within a single sprint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818120" y="36118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781812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498080" y="416052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Testable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452360" y="43891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acceptance criteria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Kanban at a glance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Flow-based Agile without fixed sprints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554480" cy="2468880"/>
          </a:xfrm>
          <a:prstGeom prst="roundRect">
            <a:avLst>
              <a:gd name="adj" fmla="val 4706"/>
            </a:avLst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17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3716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9659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13716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5146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B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13716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063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48840" y="1371600"/>
            <a:ext cx="1554480" cy="2468880"/>
          </a:xfrm>
          <a:prstGeom prst="roundRect">
            <a:avLst>
              <a:gd name="adj" fmla="val 4706"/>
            </a:avLst>
          </a:prstGeom>
          <a:solidFill>
            <a:srgbClr val="EEF7F6"/>
          </a:solidFill>
          <a:ln/>
        </p:spPr>
      </p:sp>
      <p:sp>
        <p:nvSpPr>
          <p:cNvPr id="13" name="Text 11"/>
          <p:cNvSpPr/>
          <p:nvPr/>
        </p:nvSpPr>
        <p:spPr>
          <a:xfrm>
            <a:off x="2148840" y="1417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48840" y="166420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WIP: 3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40280" y="1965960"/>
            <a:ext cx="13716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240280" y="19659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40280" y="2514600"/>
            <a:ext cx="13716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240280" y="25146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40480" y="1371600"/>
            <a:ext cx="1554480" cy="2468880"/>
          </a:xfrm>
          <a:prstGeom prst="roundRect">
            <a:avLst>
              <a:gd name="adj" fmla="val 4706"/>
            </a:avLst>
          </a:prstGeom>
          <a:solidFill>
            <a:srgbClr val="D4F5EC"/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0" y="1417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40480" y="166420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WIP: 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931920" y="1965960"/>
            <a:ext cx="13716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931920" y="19659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F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931920" y="2514600"/>
            <a:ext cx="13716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931920" y="25146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532120" y="1371600"/>
            <a:ext cx="1554480" cy="2468880"/>
          </a:xfrm>
          <a:prstGeom prst="roundRect">
            <a:avLst>
              <a:gd name="adj" fmla="val 4706"/>
            </a:avLst>
          </a:prstGeom>
          <a:solidFill>
            <a:srgbClr val="FFF8E5"/>
          </a:solidFill>
          <a:ln/>
        </p:spPr>
      </p:sp>
      <p:sp>
        <p:nvSpPr>
          <p:cNvPr id="27" name="Text 25"/>
          <p:cNvSpPr/>
          <p:nvPr/>
        </p:nvSpPr>
        <p:spPr>
          <a:xfrm>
            <a:off x="5532120" y="1417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32120" y="166420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WIP: 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23560" y="1965960"/>
            <a:ext cx="13716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623560" y="19659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H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223760" y="1371600"/>
            <a:ext cx="1554480" cy="2468880"/>
          </a:xfrm>
          <a:prstGeom prst="roundRect">
            <a:avLst>
              <a:gd name="adj" fmla="val 4706"/>
            </a:avLst>
          </a:prstGeom>
          <a:solidFill>
            <a:srgbClr val="E8F5E9"/>
          </a:solidFill>
          <a:ln/>
        </p:spPr>
      </p:sp>
      <p:sp>
        <p:nvSpPr>
          <p:cNvPr id="32" name="Text 30"/>
          <p:cNvSpPr/>
          <p:nvPr/>
        </p:nvSpPr>
        <p:spPr>
          <a:xfrm>
            <a:off x="7223760" y="1417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315200" y="1965960"/>
            <a:ext cx="13716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315200" y="19659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I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315200" y="2514600"/>
            <a:ext cx="13716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315200" y="25146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J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" y="39319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Kanban practices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40080" y="42062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 the workflow on a shared board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" y="44348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work in progress (WIP) to reduce bottlenecks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0080" y="46634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flow, measure cycle time and lead time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0080" y="48920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policies explicit (definition of done, WIP limits)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Agile metrics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measure, and what NOT to measure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325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25880" y="1645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points completed per sprint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325880" y="1965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Forecasting, not performance judging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74320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260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2880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Burndown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325880" y="3200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work vs time in the sprint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325880" y="3520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if sprint goal is at risk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663440" y="118872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37160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40680" y="1325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Time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5440680" y="1645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from 'In Progress' to 'Done'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440680" y="1965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bottlenecks; lower = faster delivery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663440" y="274320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92608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40680" y="2880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5440680" y="3200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from backlog entry to delivery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440680" y="3520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customer wait time, end to end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48640" y="43434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Anti-pattern: 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 velocity to compare teams or pressure individuals. It's a planning tool, not a performance metric.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&amp; challenges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31920" cy="3657600"/>
          </a:xfrm>
          <a:prstGeom prst="roundRect">
            <a:avLst>
              <a:gd name="adj" fmla="val 2500"/>
            </a:avLst>
          </a:prstGeom>
          <a:solidFill>
            <a:srgbClr val="F0FFF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43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16002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9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time to market with incremental delivery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20574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9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customer satisfaction through continuous feedback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514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9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quality via continuous testing and integration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971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9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risk — problems surface in weeks, not months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4290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9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team morale and ownership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8862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9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adaptability to market changes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3931920" cy="3657600"/>
          </a:xfrm>
          <a:prstGeom prst="roundRect">
            <a:avLst>
              <a:gd name="adj" fmla="val 2500"/>
            </a:avLst>
          </a:prstGeom>
          <a:solidFill>
            <a:srgbClr val="FFF5F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143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93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83480" y="16002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C55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cultural shift — not just new tools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83480" y="20574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C55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creep if backlog isn't managed well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83480" y="2514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C55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estimate total project cost upfront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83480" y="2971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C55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engaged product owner and stakeholders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83480" y="34290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C55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feel chaotic without disciplined ceremonies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38862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C55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across many teams adds complexity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3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280160"/>
            <a:ext cx="7315200" cy="548640"/>
          </a:xfrm>
          <a:prstGeom prst="roundRect">
            <a:avLst>
              <a:gd name="adj" fmla="val 13333"/>
            </a:avLst>
          </a:prstGeom>
          <a:solidFill>
            <a:srgbClr val="0D5C5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3716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0" y="128016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is a mindset first, a methodology second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914400" y="1965960"/>
            <a:ext cx="7315200" cy="548640"/>
          </a:xfrm>
          <a:prstGeom prst="roundRect">
            <a:avLst>
              <a:gd name="adj" fmla="val 13333"/>
            </a:avLst>
          </a:prstGeom>
          <a:solidFill>
            <a:srgbClr val="0D5C5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05740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45920" y="196596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working software frequently — get feedback early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914400" y="2651760"/>
            <a:ext cx="7315200" cy="548640"/>
          </a:xfrm>
          <a:prstGeom prst="roundRect">
            <a:avLst>
              <a:gd name="adj" fmla="val 13333"/>
            </a:avLst>
          </a:prstGeom>
          <a:solidFill>
            <a:srgbClr val="0D5C5C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74320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45920" y="265176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Embrace change as a competitive advantage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914400" y="3337560"/>
            <a:ext cx="7315200" cy="548640"/>
          </a:xfrm>
          <a:prstGeom prst="roundRect">
            <a:avLst>
              <a:gd name="adj" fmla="val 13333"/>
            </a:avLst>
          </a:prstGeom>
          <a:solidFill>
            <a:srgbClr val="0D5C5C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3429000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645920" y="333756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Self-organising teams with clear roles outperform hierarchies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914400" y="4023360"/>
            <a:ext cx="7315200" cy="548640"/>
          </a:xfrm>
          <a:prstGeom prst="roundRect">
            <a:avLst>
              <a:gd name="adj" fmla="val 13333"/>
            </a:avLst>
          </a:prstGeom>
          <a:solidFill>
            <a:srgbClr val="0D5C5C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4114800"/>
            <a:ext cx="365760" cy="3657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645920" y="402336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to learn, not to punish — inspect and adapt</a:t>
            </a:r>
            <a:endParaRPr lang="en-US" sz="1500" dirty="0"/>
          </a:p>
        </p:txBody>
      </p:sp>
      <p:sp>
        <p:nvSpPr>
          <p:cNvPr id="18" name="Text 11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small, inspect, adapt, repeat.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3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731520"/>
            <a:ext cx="3108960" cy="310896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146304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383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time!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Agile Methodology — 45 Minute Session</dc:title>
  <dc:subject>PptxGenJS Presentation</dc:subject>
  <dc:creator>Agile Training</dc:creator>
  <cp:lastModifiedBy>Agile Training</cp:lastModifiedBy>
  <cp:revision>1</cp:revision>
  <dcterms:created xsi:type="dcterms:W3CDTF">2026-07-07T10:01:40Z</dcterms:created>
  <dcterms:modified xsi:type="dcterms:W3CDTF">2026-07-07T10:01:40Z</dcterms:modified>
</cp:coreProperties>
</file>