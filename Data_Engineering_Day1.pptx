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63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879" y="685800"/>
            <a:ext cx="164592" cy="164592"/>
          </a:xfrm>
          <a:prstGeom prst="ellipse">
            <a:avLst/>
          </a:prstGeom>
          <a:solidFill>
            <a:srgbClr val="3A46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555471" y="768096"/>
            <a:ext cx="1684477" cy="0"/>
          </a:xfrm>
          <a:prstGeom prst="line">
            <a:avLst/>
          </a:prstGeom>
          <a:noFill/>
          <a:ln w="19050">
            <a:solidFill>
              <a:srgbClr val="3A46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39948" y="685800"/>
            <a:ext cx="164592" cy="164592"/>
          </a:xfrm>
          <a:prstGeom prst="ellipse">
            <a:avLst/>
          </a:prstGeom>
          <a:solidFill>
            <a:srgbClr val="3A46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04540" y="768096"/>
            <a:ext cx="1684477" cy="0"/>
          </a:xfrm>
          <a:prstGeom prst="line">
            <a:avLst/>
          </a:prstGeom>
          <a:noFill/>
          <a:ln w="19050">
            <a:solidFill>
              <a:srgbClr val="3A46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89017" y="685800"/>
            <a:ext cx="164592" cy="164592"/>
          </a:xfrm>
          <a:prstGeom prst="ellipse">
            <a:avLst/>
          </a:prstGeom>
          <a:solidFill>
            <a:srgbClr val="3A46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53609" y="768096"/>
            <a:ext cx="1684477" cy="0"/>
          </a:xfrm>
          <a:prstGeom prst="line">
            <a:avLst/>
          </a:prstGeom>
          <a:noFill/>
          <a:ln w="19050">
            <a:solidFill>
              <a:srgbClr val="3A46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38086" y="685800"/>
            <a:ext cx="164592" cy="164592"/>
          </a:xfrm>
          <a:prstGeom prst="ellipse">
            <a:avLst/>
          </a:prstGeom>
          <a:solidFill>
            <a:srgbClr val="3A46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102678" y="768096"/>
            <a:ext cx="1684477" cy="0"/>
          </a:xfrm>
          <a:prstGeom prst="line">
            <a:avLst/>
          </a:prstGeom>
          <a:noFill/>
          <a:ln w="19050">
            <a:solidFill>
              <a:srgbClr val="3A46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787155" y="685800"/>
            <a:ext cx="164592" cy="164592"/>
          </a:xfrm>
          <a:prstGeom prst="ellipse">
            <a:avLst/>
          </a:prstGeom>
          <a:solidFill>
            <a:srgbClr val="3A46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951747" y="768096"/>
            <a:ext cx="1684477" cy="0"/>
          </a:xfrm>
          <a:prstGeom prst="line">
            <a:avLst/>
          </a:prstGeom>
          <a:noFill/>
          <a:ln w="19050">
            <a:solidFill>
              <a:srgbClr val="3A46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636225" y="685800"/>
            <a:ext cx="164592" cy="164592"/>
          </a:xfrm>
          <a:prstGeom prst="ellipse">
            <a:avLst/>
          </a:prstGeom>
          <a:solidFill>
            <a:srgbClr val="3A46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1 HOUR SESSION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Engineering?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...and the Data Lifecycle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66928" y="4251960"/>
            <a:ext cx="21945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session on how raw data becomes a business decision — through Swiggy, Amazon, and hospital examples.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Fundamentals Training Series  ·  Trainer: V. Rishi Kesavan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 · WARM-UP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all the data go?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45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"When you order food on Swiggy, where does all the data go?"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answer first — then walk through the journey: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" y="3200400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places order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639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" y="3803904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accepts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24281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07408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3232" y="4407408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" y="5010912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44982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614416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3232" y="5614416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05332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621792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13232" y="6217920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analyzes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94960" y="3200400"/>
            <a:ext cx="6248095" cy="3017520"/>
          </a:xfrm>
          <a:prstGeom prst="roundRect">
            <a:avLst>
              <a:gd name="adj" fmla="val 303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0" y="3520440"/>
            <a:ext cx="56994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builds this entire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movement?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687568" y="4800600"/>
            <a:ext cx="1463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6928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5257800"/>
            <a:ext cx="5973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Engineer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 ·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Engineering?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29029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4375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77669" y="17830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1717" y="1828800"/>
            <a:ext cx="1529029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07437" y="1828800"/>
            <a:ext cx="14375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90746" y="17830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74794" y="1828800"/>
            <a:ext cx="1529029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20514" y="1828800"/>
            <a:ext cx="14375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03824" y="17830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87872" y="1828800"/>
            <a:ext cx="1529029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33592" y="1828800"/>
            <a:ext cx="14375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6901" y="17830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00949" y="1828800"/>
            <a:ext cx="1529029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46669" y="1828800"/>
            <a:ext cx="14375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29978" y="17830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114026" y="1828800"/>
            <a:ext cx="1529029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159746" y="1828800"/>
            <a:ext cx="14375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74794" y="1737360"/>
            <a:ext cx="1529029" cy="1234440"/>
          </a:xfrm>
          <a:prstGeom prst="roundRect">
            <a:avLst>
              <a:gd name="adj" fmla="val 7407"/>
            </a:avLst>
          </a:prstGeom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 builds the pipeline that turns raw data into decisions: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1999427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292322" y="3886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292322" y="3886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792" y="4480560"/>
            <a:ext cx="185312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22387" y="3703320"/>
            <a:ext cx="1999427" cy="1417320"/>
          </a:xfrm>
          <a:prstGeom prst="roundRect">
            <a:avLst>
              <a:gd name="adj" fmla="val 6452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566069" y="3886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66069" y="3886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895539" y="4480560"/>
            <a:ext cx="185312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96134" y="3703320"/>
            <a:ext cx="1999427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839816" y="3886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839816" y="3886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169286" y="4480560"/>
            <a:ext cx="185312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data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9881" y="3703320"/>
            <a:ext cx="1999427" cy="1417320"/>
          </a:xfrm>
          <a:prstGeom prst="roundRect">
            <a:avLst>
              <a:gd name="adj" fmla="val 6452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113563" y="3886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113563" y="3886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443033" y="4480560"/>
            <a:ext cx="185312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643628" y="3703320"/>
            <a:ext cx="1999427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0387310" y="3886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0387310" y="3886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716780" y="4480560"/>
            <a:ext cx="185312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available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E21B69-B72E-7200-128F-23B3895EAC7F}"/>
              </a:ext>
            </a:extLst>
          </p:cNvPr>
          <p:cNvSpPr txBox="1"/>
          <p:nvPr/>
        </p:nvSpPr>
        <p:spPr>
          <a:xfrm>
            <a:off x="239150" y="254449"/>
            <a:ext cx="67876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Data Engineering?</a:t>
            </a:r>
          </a:p>
          <a:p>
            <a:pPr>
              <a:buNone/>
            </a:pPr>
            <a:r>
              <a:rPr lang="en-US" dirty="0"/>
              <a:t>Data Engineering is the process of collecting, moving, transforming, and storing data for analytics and reporting.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01ABE-5472-4EDE-A72D-87F7F54145BB}"/>
              </a:ext>
            </a:extLst>
          </p:cNvPr>
          <p:cNvSpPr txBox="1"/>
          <p:nvPr/>
        </p:nvSpPr>
        <p:spPr>
          <a:xfrm>
            <a:off x="3215615" y="2222099"/>
            <a:ext cx="66655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 Sources --- API , Excel/CSV, SQL DB 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Data Ingestion --- Data migrate(move)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Data Storage ---- Data lake / Datawarehouse(API , Excel/CSV, SQL DB)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Data Transformation ---- (removing nulls, cases change, default set)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Data Processing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Analytics &amp; Reporting (Power BI)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Business Decision Making (CEO/ CTO)</a:t>
            </a:r>
          </a:p>
        </p:txBody>
      </p:sp>
    </p:spTree>
    <p:extLst>
      <p:ext uri="{BB962C8B-B14F-4D97-AF65-F5344CB8AC3E}">
        <p14:creationId xmlns:p14="http://schemas.microsoft.com/office/powerpoint/2010/main" val="4672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AC7957-1D79-F4D1-A8C6-3899FD4A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16" y="536644"/>
            <a:ext cx="9144000" cy="507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0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 ·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looks the same everywhere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🏥  Hospital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242316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536192" y="2423160"/>
            <a:ext cx="3374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953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3191256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36192" y="3191256"/>
            <a:ext cx="3374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37216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63040" y="3959352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536192" y="3959352"/>
            <a:ext cx="3374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4489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63040" y="4727448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536192" y="4727448"/>
            <a:ext cx="3374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5257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463040" y="5495544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536192" y="5495544"/>
            <a:ext cx="3374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1600200"/>
            <a:ext cx="5379415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3796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 Amazon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66560" y="242316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39712" y="2423160"/>
            <a:ext cx="4471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617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6560" y="3022092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39712" y="3022092"/>
            <a:ext cx="4471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461004"/>
            <a:ext cx="4617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66560" y="3621024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39712" y="3621024"/>
            <a:ext cx="4471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4059936"/>
            <a:ext cx="4617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6560" y="4219956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39712" y="4219956"/>
            <a:ext cx="4471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4658868"/>
            <a:ext cx="4617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66560" y="4818888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39712" y="4818888"/>
            <a:ext cx="4471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5257800"/>
            <a:ext cx="4617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6560" y="541782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839712" y="5417820"/>
            <a:ext cx="4471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 · DISCUSS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happens if the engineer doesn't clean data?"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/ unclean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30632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orders, missing values,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formats go unnoticed.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30175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035040" y="233172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0" y="23317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reports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78040" y="3337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035040" y="388620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0" y="38862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business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 MIN ·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310596" cy="1737360"/>
          </a:xfrm>
          <a:prstGeom prst="roundRect">
            <a:avLst>
              <a:gd name="adj" fmla="val 697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84482" y="23591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84482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1219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59236" y="269748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79276" y="2194560"/>
            <a:ext cx="1310596" cy="1737360"/>
          </a:xfrm>
          <a:prstGeom prst="roundRect">
            <a:avLst>
              <a:gd name="adj" fmla="val 697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615119" y="23591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15119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24996" y="2971800"/>
            <a:ext cx="1219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89873" y="269748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09913" y="2194560"/>
            <a:ext cx="1310596" cy="1737360"/>
          </a:xfrm>
          <a:prstGeom prst="roundRect">
            <a:avLst>
              <a:gd name="adj" fmla="val 697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245755" y="23591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45755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55633" y="2971800"/>
            <a:ext cx="1219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0509" y="269748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0549" y="2194560"/>
            <a:ext cx="1310596" cy="1737360"/>
          </a:xfrm>
          <a:prstGeom prst="roundRect">
            <a:avLst>
              <a:gd name="adj" fmla="val 697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876392" y="23591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876392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269" y="2971800"/>
            <a:ext cx="1219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51146" y="269748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71186" y="2194560"/>
            <a:ext cx="1310596" cy="1737360"/>
          </a:xfrm>
          <a:prstGeom prst="roundRect">
            <a:avLst>
              <a:gd name="adj" fmla="val 697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507028" y="23591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507028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16906" y="2971800"/>
            <a:ext cx="1219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81782" y="269748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701822" y="2194560"/>
            <a:ext cx="1310596" cy="1737360"/>
          </a:xfrm>
          <a:prstGeom prst="roundRect">
            <a:avLst>
              <a:gd name="adj" fmla="val 697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137665" y="23591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137665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47542" y="2971800"/>
            <a:ext cx="1219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012419" y="269748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332459" y="2194560"/>
            <a:ext cx="1310596" cy="1737360"/>
          </a:xfrm>
          <a:prstGeom prst="roundRect">
            <a:avLst>
              <a:gd name="adj" fmla="val 6977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768301" y="23591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768301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378179" y="2971800"/>
            <a:ext cx="1219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 /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" y="4251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— an order, a patient record, a video view — passes through these seven stages.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2194560" y="4892040"/>
            <a:ext cx="7802575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423160" y="5010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423160" y="5257800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students map this same lifecycle to Netflix?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 MIN · APPLIED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Lifecycle, through Swiggy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11880" y="1600200"/>
            <a:ext cx="8214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Swiggy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94415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212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057400"/>
            <a:ext cx="80311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places an order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11094415" cy="603504"/>
          </a:xfrm>
          <a:prstGeom prst="rect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5800" y="281635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66090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660904"/>
            <a:ext cx="80311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saves it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264408"/>
            <a:ext cx="11094415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5800" y="34198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3419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26440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3264408"/>
            <a:ext cx="80311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867912"/>
            <a:ext cx="11094415" cy="603504"/>
          </a:xfrm>
          <a:prstGeom prst="rect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5800" y="40233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86791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11880" y="3867912"/>
            <a:ext cx="80311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duplicate orders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471416"/>
            <a:ext cx="11094415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85800" y="46268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" y="46268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4471416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11880" y="4471416"/>
            <a:ext cx="80311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sales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94415" cy="603504"/>
          </a:xfrm>
          <a:prstGeom prst="rect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85800" y="52303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5800" y="5230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507492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11880" y="5074920"/>
            <a:ext cx="80311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85800" y="5678424"/>
            <a:ext cx="11094415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85800" y="583387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85800" y="5833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97280" y="567842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611880" y="5678424"/>
            <a:ext cx="80311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old data out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 MIN · ETL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— Extract, Transform, 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1691640"/>
            <a:ext cx="2710586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691640" y="1691640"/>
            <a:ext cx="261914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56506" y="16459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40554" y="1691640"/>
            <a:ext cx="2710586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86274" y="1691640"/>
            <a:ext cx="261914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1141" y="16459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35189" y="1691640"/>
            <a:ext cx="2710586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880909" y="1691640"/>
            <a:ext cx="261914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94415" cy="246888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like Excel — the old-school way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102714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Excel file first — remove duplicates, fix formats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upload the finished, tidy data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happens before loading — that's ETL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78240" y="35661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778240" y="35661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 MIN · 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 — Extract, Load, Transform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1691640"/>
            <a:ext cx="2710586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691640" y="1691640"/>
            <a:ext cx="261914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56506" y="16459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40554" y="1691640"/>
            <a:ext cx="2710586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86274" y="1691640"/>
            <a:ext cx="261914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1141" y="16459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35189" y="1691640"/>
            <a:ext cx="2710586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880909" y="1691640"/>
            <a:ext cx="261914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94415" cy="246888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cloud way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102714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everything first — raw, messy, as-is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transform it later, inside the cloud platform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happens before transformation — that's ELT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78240" y="35661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778240" y="35661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 MIN · COMPARE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vs ELT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55768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5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187288" y="1737360"/>
            <a:ext cx="5455768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87288" y="1737360"/>
            <a:ext cx="545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455768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187288" y="2514600"/>
            <a:ext cx="5455768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54557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first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87288" y="2514600"/>
            <a:ext cx="54557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first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55768" cy="667512"/>
          </a:xfrm>
          <a:prstGeom prst="rect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87288" y="3291840"/>
            <a:ext cx="5455768" cy="667512"/>
          </a:xfrm>
          <a:prstGeom prst="rect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54557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87288" y="3291840"/>
            <a:ext cx="54557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455768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87288" y="4069080"/>
            <a:ext cx="5455768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54557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87288" y="4069080"/>
            <a:ext cx="54557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455768" cy="667512"/>
          </a:xfrm>
          <a:prstGeom prst="rect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87288" y="4846320"/>
            <a:ext cx="5455768" cy="667512"/>
          </a:xfrm>
          <a:prstGeom prst="rect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54557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87288" y="4846320"/>
            <a:ext cx="54557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 MIN · IN AZURE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looks like in Azure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302688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2211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(ADF)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17088" y="2148840"/>
            <a:ext cx="3840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01136" y="2194560"/>
            <a:ext cx="2302688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46856" y="2194560"/>
            <a:ext cx="2211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(ADLS)/Azure SQL/BLOB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03824" y="2148840"/>
            <a:ext cx="3840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87872" y="2194560"/>
            <a:ext cx="2302688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33592" y="2194560"/>
            <a:ext cx="2211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Databricks/Synapse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0559" y="2148840"/>
            <a:ext cx="3840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74607" y="2194560"/>
            <a:ext cx="2302688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20327" y="2194560"/>
            <a:ext cx="2211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75608" y="3977640"/>
            <a:ext cx="384048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75608" y="3977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ELT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5029200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loaded into the Lake first (raw), then transformed inside Databricks — before it ever reaches a report.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MIN · REVISION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 Quiz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4328" cy="1600200"/>
          </a:xfrm>
          <a:prstGeom prst="roundRect">
            <a:avLst>
              <a:gd name="adj" fmla="val 685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408416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Data Engineer do?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364328" cy="1600200"/>
          </a:xfrm>
          <a:prstGeom prst="roundRect">
            <a:avLst>
              <a:gd name="adj" fmla="val 6857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53048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5304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30288" y="1737360"/>
            <a:ext cx="408416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ETL?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64328" cy="1600200"/>
          </a:xfrm>
          <a:prstGeom prst="roundRect">
            <a:avLst>
              <a:gd name="adj" fmla="val 685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657600"/>
            <a:ext cx="408416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ELT?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8728" y="3657600"/>
            <a:ext cx="5364328" cy="1600200"/>
          </a:xfrm>
          <a:prstGeom prst="roundRect">
            <a:avLst>
              <a:gd name="adj" fmla="val 6857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53048" y="3931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53048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30288" y="3657600"/>
            <a:ext cx="408416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is used in Azure?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Day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66928" y="35204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 Let's discuss the Netflix lifecycle activity.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hands-on with Azure Data Factory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773</Words>
  <Application>Microsoft Office PowerPoint</Application>
  <PresentationFormat>Widescreen</PresentationFormat>
  <Paragraphs>254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Rishi Kesavan</cp:lastModifiedBy>
  <cp:revision>2</cp:revision>
  <dcterms:created xsi:type="dcterms:W3CDTF">2026-07-21T03:31:03Z</dcterms:created>
  <dcterms:modified xsi:type="dcterms:W3CDTF">2026-07-21T08:11:43Z</dcterms:modified>
</cp:coreProperties>
</file>