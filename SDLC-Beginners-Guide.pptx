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learn how software is actually built in the IT industry — not the coding itself, but the journey: the Software Development Life Cycle. By the end, you'll know the 7 phases, the popular SDLC models like Waterfall and Agile, and who does what on a software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SDLC simply: a repeatable recipe for building software. Use the house analogy — nobody builds a house without a plan and blueprints. Emphasize that SDLC is about reducing chaos and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what happens when you cook without a recipe for 100 guests? Connect each card to a story — e.g., a bug found in requirements costs almost nothing; the same bug found in production can cost thousands and damage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7 phases quickly — one sentence each. Stress the word 'cycle': software is never truly finished. The next 7 slides zoom into each phase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Planning. Decide WHAT to build and whether it's worth building.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Requirements Analysis. Understand exactly what users and the business need.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Design. Create the blueprint before writing a single line of code.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Development. The blueprint becomes real, working code.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Testing. Hunt down bugs before your users ever meet them.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Deployment. Ship it! The software goes live to real users.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7: Maintenance. Keep it healthy, secure and improving — for years. Walk through the activities on the left, then highlight who is involved and the key deliverable. Use the example at the bottom to make it concrete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'model' is a strategy for moving through the same 7 phases. Waterfall = one straight pass. Agile = many small loops. Mention that Agile (especially Scrum) dominates the modern IT industry, but others still matter in banking, healthcare and aerospace.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comes up in almost every IT interview. Analogy: Waterfall is like printing a finished book; Agile is like publishing a blog you improve weekly. Neither is 'better' — it depends on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often think software = developers only. Show that each phase has a lead role, and one person may wear several hats in small companies. Ask students which role sounds most like them — it's a great career-orientation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abstract phase to one concrete story. Read it as a narrative: idea → interviews → blueprints → sprints → bug found and fixed → careful launch → version 1.1. Invite students to suggest what version 1.2 might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'don't' is a real story waiting to happen — share one from experience if you can. The biggest beginner trap: opening the code editor before understanding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Suggested homework: pick any app you use daily and write one sentence per SDLC phase describing how it was probably built.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43C"/>
        </a:solidFill>
      </p:bgPr>
    </p:bg>
    <p:spTree>
      <p:nvGrpSpPr>
        <p:cNvPr id="1" name=""/>
        <p:cNvGrpSpPr/>
        <p:nvPr/>
      </p:nvGrpSpPr>
      <p:grpSpPr>
        <a:xfrm>
          <a:off x="0" y="0"/>
          <a:ext cx="0" cy="0"/>
          <a:chOff x="0" y="0"/>
          <a:chExt cx="0" cy="0"/>
        </a:xfrm>
      </p:grpSpPr>
      <p:sp>
        <p:nvSpPr>
          <p:cNvPr id="2" name="Text 0"/>
          <p:cNvSpPr/>
          <p:nvPr/>
        </p:nvSpPr>
        <p:spPr>
          <a:xfrm>
            <a:off x="640080" y="960120"/>
            <a:ext cx="7863840" cy="320040"/>
          </a:xfrm>
          <a:prstGeom prst="rect">
            <a:avLst/>
          </a:prstGeom>
          <a:noFill/>
          <a:ln/>
        </p:spPr>
        <p:txBody>
          <a:bodyPr wrap="square" lIns="0" tIns="0" rIns="0" bIns="0" rtlCol="0" anchor="ctr"/>
          <a:lstStyle/>
          <a:p>
            <a:pPr algn="ctr" indent="0" marL="0">
              <a:buNone/>
            </a:pPr>
            <a:r>
              <a:rPr lang="en-US" sz="1300" b="1" spc="300" kern="0" dirty="0">
                <a:solidFill>
                  <a:srgbClr val="02C39A"/>
                </a:solidFill>
                <a:latin typeface="Calibri" pitchFamily="34" charset="0"/>
                <a:ea typeface="Calibri" pitchFamily="34" charset="-122"/>
                <a:cs typeface="Calibri" pitchFamily="34" charset="-120"/>
              </a:rPr>
              <a:t>BEGINNER'S GUIDE  •  IT INDUSTRY FUNDAMENTALS</a:t>
            </a:r>
            <a:endParaRPr lang="en-US" sz="1300" dirty="0"/>
          </a:p>
        </p:txBody>
      </p:sp>
      <p:sp>
        <p:nvSpPr>
          <p:cNvPr id="3" name="Text 1"/>
          <p:cNvSpPr/>
          <p:nvPr/>
        </p:nvSpPr>
        <p:spPr>
          <a:xfrm>
            <a:off x="640080" y="1371600"/>
            <a:ext cx="7863840" cy="15544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The Software Development</a:t>
            </a:r>
            <a:endParaRPr lang="en-US" sz="4400" dirty="0"/>
          </a:p>
          <a:p>
            <a:pPr algn="ctr" indent="0" marL="0">
              <a:buNone/>
            </a:pPr>
            <a:r>
              <a:rPr lang="en-US" sz="4400" b="1" dirty="0">
                <a:solidFill>
                  <a:srgbClr val="FFFFFF"/>
                </a:solidFill>
                <a:latin typeface="Cambria" pitchFamily="34" charset="0"/>
                <a:ea typeface="Cambria" pitchFamily="34" charset="-122"/>
                <a:cs typeface="Cambria" pitchFamily="34" charset="-120"/>
              </a:rPr>
              <a:t>Life Cycle (SDLC)</a:t>
            </a:r>
            <a:endParaRPr lang="en-US" sz="4400" dirty="0"/>
          </a:p>
        </p:txBody>
      </p:sp>
      <p:sp>
        <p:nvSpPr>
          <p:cNvPr id="4" name="Text 2"/>
          <p:cNvSpPr/>
          <p:nvPr/>
        </p:nvSpPr>
        <p:spPr>
          <a:xfrm>
            <a:off x="1371600" y="3017520"/>
            <a:ext cx="6400800" cy="457200"/>
          </a:xfrm>
          <a:prstGeom prst="rect">
            <a:avLst/>
          </a:prstGeom>
          <a:noFill/>
          <a:ln/>
        </p:spPr>
        <p:txBody>
          <a:bodyPr wrap="square" lIns="0" tIns="0" rIns="0" bIns="0" rtlCol="0" anchor="ctr"/>
          <a:lstStyle/>
          <a:p>
            <a:pPr algn="ctr" indent="0" marL="0">
              <a:buNone/>
            </a:pPr>
            <a:r>
              <a:rPr lang="en-US" sz="1600" i="1" dirty="0">
                <a:solidFill>
                  <a:srgbClr val="BFE3E0"/>
                </a:solidFill>
                <a:latin typeface="Calibri" pitchFamily="34" charset="0"/>
                <a:ea typeface="Calibri" pitchFamily="34" charset="-122"/>
                <a:cs typeface="Calibri" pitchFamily="34" charset="-120"/>
              </a:rPr>
              <a:t>How great software goes from an idea to the apps we use every day</a:t>
            </a:r>
            <a:endParaRPr lang="en-US" sz="1600" dirty="0"/>
          </a:p>
        </p:txBody>
      </p:sp>
      <p:sp>
        <p:nvSpPr>
          <p:cNvPr id="5" name="Shape 3"/>
          <p:cNvSpPr/>
          <p:nvPr/>
        </p:nvSpPr>
        <p:spPr>
          <a:xfrm>
            <a:off x="1755648" y="3840480"/>
            <a:ext cx="475488" cy="475488"/>
          </a:xfrm>
          <a:prstGeom prst="ellipse">
            <a:avLst/>
          </a:prstGeom>
          <a:solidFill>
            <a:srgbClr val="0A4552"/>
          </a:solidFill>
          <a:ln/>
        </p:spPr>
      </p:sp>
      <p:pic>
        <p:nvPicPr>
          <p:cNvPr id="6" name="Image 0" descr="preencoded.png">    </p:cNvPr>
          <p:cNvPicPr>
            <a:picLocks noChangeAspect="1"/>
          </p:cNvPicPr>
          <p:nvPr/>
        </p:nvPicPr>
        <p:blipFill>
          <a:blip r:embed="rId1"/>
          <a:stretch>
            <a:fillRect/>
          </a:stretch>
        </p:blipFill>
        <p:spPr>
          <a:xfrm>
            <a:off x="1879275" y="3964107"/>
            <a:ext cx="228234" cy="228234"/>
          </a:xfrm>
          <a:prstGeom prst="rect">
            <a:avLst/>
          </a:prstGeom>
        </p:spPr>
      </p:pic>
      <p:sp>
        <p:nvSpPr>
          <p:cNvPr id="7" name="Shape 4"/>
          <p:cNvSpPr/>
          <p:nvPr/>
        </p:nvSpPr>
        <p:spPr>
          <a:xfrm>
            <a:off x="2615184" y="3840480"/>
            <a:ext cx="475488" cy="475488"/>
          </a:xfrm>
          <a:prstGeom prst="ellipse">
            <a:avLst/>
          </a:prstGeom>
          <a:solidFill>
            <a:srgbClr val="0A4552"/>
          </a:solidFill>
          <a:ln/>
        </p:spPr>
      </p:sp>
      <p:pic>
        <p:nvPicPr>
          <p:cNvPr id="8" name="Image 1" descr="preencoded.png">    </p:cNvPr>
          <p:cNvPicPr>
            <a:picLocks noChangeAspect="1"/>
          </p:cNvPicPr>
          <p:nvPr/>
        </p:nvPicPr>
        <p:blipFill>
          <a:blip r:embed="rId2"/>
          <a:stretch>
            <a:fillRect/>
          </a:stretch>
        </p:blipFill>
        <p:spPr>
          <a:xfrm>
            <a:off x="2738811" y="3964107"/>
            <a:ext cx="228234" cy="228234"/>
          </a:xfrm>
          <a:prstGeom prst="rect">
            <a:avLst/>
          </a:prstGeom>
        </p:spPr>
      </p:pic>
      <p:sp>
        <p:nvSpPr>
          <p:cNvPr id="9" name="Shape 5"/>
          <p:cNvSpPr/>
          <p:nvPr/>
        </p:nvSpPr>
        <p:spPr>
          <a:xfrm>
            <a:off x="3474720" y="3840480"/>
            <a:ext cx="475488" cy="475488"/>
          </a:xfrm>
          <a:prstGeom prst="ellipse">
            <a:avLst/>
          </a:prstGeom>
          <a:solidFill>
            <a:srgbClr val="0A4552"/>
          </a:solidFill>
          <a:ln/>
        </p:spPr>
      </p:sp>
      <p:pic>
        <p:nvPicPr>
          <p:cNvPr id="10" name="Image 2" descr="preencoded.png">    </p:cNvPr>
          <p:cNvPicPr>
            <a:picLocks noChangeAspect="1"/>
          </p:cNvPicPr>
          <p:nvPr/>
        </p:nvPicPr>
        <p:blipFill>
          <a:blip r:embed="rId3"/>
          <a:stretch>
            <a:fillRect/>
          </a:stretch>
        </p:blipFill>
        <p:spPr>
          <a:xfrm>
            <a:off x="3598347" y="3964107"/>
            <a:ext cx="228234" cy="228234"/>
          </a:xfrm>
          <a:prstGeom prst="rect">
            <a:avLst/>
          </a:prstGeom>
        </p:spPr>
      </p:pic>
      <p:sp>
        <p:nvSpPr>
          <p:cNvPr id="11" name="Shape 6"/>
          <p:cNvSpPr/>
          <p:nvPr/>
        </p:nvSpPr>
        <p:spPr>
          <a:xfrm>
            <a:off x="4334256" y="3840480"/>
            <a:ext cx="475488" cy="475488"/>
          </a:xfrm>
          <a:prstGeom prst="ellipse">
            <a:avLst/>
          </a:prstGeom>
          <a:solidFill>
            <a:srgbClr val="0A4552"/>
          </a:solidFill>
          <a:ln/>
        </p:spPr>
      </p:sp>
      <p:pic>
        <p:nvPicPr>
          <p:cNvPr id="12" name="Image 3" descr="preencoded.png">    </p:cNvPr>
          <p:cNvPicPr>
            <a:picLocks noChangeAspect="1"/>
          </p:cNvPicPr>
          <p:nvPr/>
        </p:nvPicPr>
        <p:blipFill>
          <a:blip r:embed="rId4"/>
          <a:stretch>
            <a:fillRect/>
          </a:stretch>
        </p:blipFill>
        <p:spPr>
          <a:xfrm>
            <a:off x="4457883" y="3964107"/>
            <a:ext cx="228234" cy="228234"/>
          </a:xfrm>
          <a:prstGeom prst="rect">
            <a:avLst/>
          </a:prstGeom>
        </p:spPr>
      </p:pic>
      <p:sp>
        <p:nvSpPr>
          <p:cNvPr id="13" name="Shape 7"/>
          <p:cNvSpPr/>
          <p:nvPr/>
        </p:nvSpPr>
        <p:spPr>
          <a:xfrm>
            <a:off x="5193792" y="3840480"/>
            <a:ext cx="475488" cy="475488"/>
          </a:xfrm>
          <a:prstGeom prst="ellipse">
            <a:avLst/>
          </a:prstGeom>
          <a:solidFill>
            <a:srgbClr val="0A4552"/>
          </a:solidFill>
          <a:ln/>
        </p:spPr>
      </p:sp>
      <p:pic>
        <p:nvPicPr>
          <p:cNvPr id="14" name="Image 4" descr="preencoded.png">    </p:cNvPr>
          <p:cNvPicPr>
            <a:picLocks noChangeAspect="1"/>
          </p:cNvPicPr>
          <p:nvPr/>
        </p:nvPicPr>
        <p:blipFill>
          <a:blip r:embed="rId5"/>
          <a:stretch>
            <a:fillRect/>
          </a:stretch>
        </p:blipFill>
        <p:spPr>
          <a:xfrm>
            <a:off x="5317419" y="3964107"/>
            <a:ext cx="228234" cy="228234"/>
          </a:xfrm>
          <a:prstGeom prst="rect">
            <a:avLst/>
          </a:prstGeom>
        </p:spPr>
      </p:pic>
      <p:sp>
        <p:nvSpPr>
          <p:cNvPr id="15" name="Shape 8"/>
          <p:cNvSpPr/>
          <p:nvPr/>
        </p:nvSpPr>
        <p:spPr>
          <a:xfrm>
            <a:off x="6053328" y="3840480"/>
            <a:ext cx="475488" cy="475488"/>
          </a:xfrm>
          <a:prstGeom prst="ellipse">
            <a:avLst/>
          </a:prstGeom>
          <a:solidFill>
            <a:srgbClr val="0A4552"/>
          </a:solidFill>
          <a:ln/>
        </p:spPr>
      </p:sp>
      <p:pic>
        <p:nvPicPr>
          <p:cNvPr id="16" name="Image 5" descr="preencoded.png">    </p:cNvPr>
          <p:cNvPicPr>
            <a:picLocks noChangeAspect="1"/>
          </p:cNvPicPr>
          <p:nvPr/>
        </p:nvPicPr>
        <p:blipFill>
          <a:blip r:embed="rId6"/>
          <a:stretch>
            <a:fillRect/>
          </a:stretch>
        </p:blipFill>
        <p:spPr>
          <a:xfrm>
            <a:off x="6176955" y="3964107"/>
            <a:ext cx="228234" cy="228234"/>
          </a:xfrm>
          <a:prstGeom prst="rect">
            <a:avLst/>
          </a:prstGeom>
        </p:spPr>
      </p:pic>
      <p:sp>
        <p:nvSpPr>
          <p:cNvPr id="17" name="Shape 9"/>
          <p:cNvSpPr/>
          <p:nvPr/>
        </p:nvSpPr>
        <p:spPr>
          <a:xfrm>
            <a:off x="6912864" y="3840480"/>
            <a:ext cx="475488" cy="475488"/>
          </a:xfrm>
          <a:prstGeom prst="ellipse">
            <a:avLst/>
          </a:prstGeom>
          <a:solidFill>
            <a:srgbClr val="0A4552"/>
          </a:solidFill>
          <a:ln/>
        </p:spPr>
      </p:sp>
      <p:pic>
        <p:nvPicPr>
          <p:cNvPr id="18" name="Image 6" descr="preencoded.png">    </p:cNvPr>
          <p:cNvPicPr>
            <a:picLocks noChangeAspect="1"/>
          </p:cNvPicPr>
          <p:nvPr/>
        </p:nvPicPr>
        <p:blipFill>
          <a:blip r:embed="rId7"/>
          <a:stretch>
            <a:fillRect/>
          </a:stretch>
        </p:blipFill>
        <p:spPr>
          <a:xfrm>
            <a:off x="7036491" y="3964107"/>
            <a:ext cx="228234" cy="2282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What is the SDLC?</a:t>
            </a:r>
            <a:endParaRPr lang="en-US" sz="3200" dirty="0"/>
          </a:p>
        </p:txBody>
      </p:sp>
      <p:sp>
        <p:nvSpPr>
          <p:cNvPr id="4" name="Text 2"/>
          <p:cNvSpPr/>
          <p:nvPr/>
        </p:nvSpPr>
        <p:spPr>
          <a:xfrm>
            <a:off x="457200" y="1325880"/>
            <a:ext cx="4297680" cy="1005840"/>
          </a:xfrm>
          <a:prstGeom prst="rect">
            <a:avLst/>
          </a:prstGeom>
          <a:noFill/>
          <a:ln/>
        </p:spPr>
        <p:txBody>
          <a:bodyPr wrap="square" lIns="0" tIns="0" rIns="0" bIns="0" rtlCol="0" anchor="t"/>
          <a:lstStyle/>
          <a:p>
            <a:pPr indent="0" marL="0">
              <a:buNone/>
            </a:pPr>
            <a:r>
              <a:rPr lang="en-US" sz="1700" dirty="0">
                <a:solidFill>
                  <a:srgbClr val="1E2E30"/>
                </a:solidFill>
                <a:latin typeface="Calibri" pitchFamily="34" charset="0"/>
                <a:ea typeface="Calibri" pitchFamily="34" charset="-122"/>
                <a:cs typeface="Calibri" pitchFamily="34" charset="-120"/>
              </a:rPr>
              <a:t>The Software Development Life Cycle is a </a:t>
            </a:r>
            <a:pPr indent="0" marL="0">
              <a:buNone/>
            </a:pPr>
            <a:r>
              <a:rPr lang="en-US" sz="1700" b="1" dirty="0">
                <a:solidFill>
                  <a:srgbClr val="028090"/>
                </a:solidFill>
                <a:latin typeface="Calibri" pitchFamily="34" charset="0"/>
                <a:ea typeface="Calibri" pitchFamily="34" charset="-122"/>
                <a:cs typeface="Calibri" pitchFamily="34" charset="-120"/>
              </a:rPr>
              <a:t>step-by-step process</a:t>
            </a:r>
            <a:pPr indent="0" marL="0">
              <a:buNone/>
            </a:pPr>
            <a:r>
              <a:rPr lang="en-US" sz="1700" dirty="0">
                <a:solidFill>
                  <a:srgbClr val="1E2E30"/>
                </a:solidFill>
                <a:latin typeface="Calibri" pitchFamily="34" charset="0"/>
                <a:ea typeface="Calibri" pitchFamily="34" charset="-122"/>
                <a:cs typeface="Calibri" pitchFamily="34" charset="-120"/>
              </a:rPr>
              <a:t> that teams follow to plan, build, test, and maintain software.</a:t>
            </a:r>
            <a:endParaRPr lang="en-US" sz="1700" dirty="0"/>
          </a:p>
        </p:txBody>
      </p:sp>
      <p:sp>
        <p:nvSpPr>
          <p:cNvPr id="5" name="Text 3"/>
          <p:cNvSpPr/>
          <p:nvPr/>
        </p:nvSpPr>
        <p:spPr>
          <a:xfrm>
            <a:off x="457200" y="2331720"/>
            <a:ext cx="4297680" cy="1737360"/>
          </a:xfrm>
          <a:prstGeom prst="rect">
            <a:avLst/>
          </a:prstGeom>
          <a:noFill/>
          <a:ln/>
        </p:spPr>
        <p:txBody>
          <a:bodyPr wrap="square" lIns="0" tIns="0" rIns="0" bIns="0" rtlCol="0" anchor="t"/>
          <a:lstStyle/>
          <a:p>
            <a:pPr indent="0" marL="0">
              <a:spcAft>
                <a:spcPts val="800"/>
              </a:spcAft>
              <a:buNone/>
            </a:pPr>
            <a:r>
              <a:rPr lang="en-US" sz="1500" dirty="0">
                <a:solidFill>
                  <a:srgbClr val="1E2E30"/>
                </a:solidFill>
                <a:latin typeface="Calibri" pitchFamily="34" charset="0"/>
                <a:ea typeface="Calibri" pitchFamily="34" charset="-122"/>
                <a:cs typeface="Calibri" pitchFamily="34" charset="-120"/>
              </a:rPr>
              <a:t>It answers three simple questions:</a:t>
            </a:r>
            <a:endParaRPr lang="en-US" sz="1500" dirty="0"/>
          </a:p>
          <a:p>
            <a:pPr marL="342900" indent="-342900">
              <a:spcAft>
                <a:spcPts val="600"/>
              </a:spcAft>
              <a:buSzPct val="100000"/>
              <a:buChar char="•"/>
            </a:pPr>
            <a:r>
              <a:rPr lang="en-US" sz="1500" dirty="0">
                <a:solidFill>
                  <a:srgbClr val="1E2E30"/>
                </a:solidFill>
                <a:latin typeface="Calibri" pitchFamily="34" charset="0"/>
                <a:ea typeface="Calibri" pitchFamily="34" charset="-122"/>
                <a:cs typeface="Calibri" pitchFamily="34" charset="-120"/>
              </a:rPr>
              <a:t>What do we want to build?</a:t>
            </a:r>
            <a:endParaRPr lang="en-US" sz="1500" dirty="0"/>
          </a:p>
          <a:p>
            <a:pPr marL="342900" indent="-342900">
              <a:spcAft>
                <a:spcPts val="600"/>
              </a:spcAft>
              <a:buSzPct val="100000"/>
              <a:buChar char="•"/>
            </a:pPr>
            <a:r>
              <a:rPr lang="en-US" sz="1500" dirty="0">
                <a:solidFill>
                  <a:srgbClr val="1E2E30"/>
                </a:solidFill>
                <a:latin typeface="Calibri" pitchFamily="34" charset="0"/>
                <a:ea typeface="Calibri" pitchFamily="34" charset="-122"/>
                <a:cs typeface="Calibri" pitchFamily="34" charset="-120"/>
              </a:rPr>
              <a:t>How will we build it well?</a:t>
            </a:r>
            <a:endParaRPr lang="en-US" sz="1500" dirty="0"/>
          </a:p>
          <a:p>
            <a:pPr marL="342900" indent="-342900">
              <a:buSzPct val="100000"/>
              <a:buChar char="•"/>
            </a:pPr>
            <a:r>
              <a:rPr lang="en-US" sz="1500" dirty="0">
                <a:solidFill>
                  <a:srgbClr val="1E2E30"/>
                </a:solidFill>
                <a:latin typeface="Calibri" pitchFamily="34" charset="0"/>
                <a:ea typeface="Calibri" pitchFamily="34" charset="-122"/>
                <a:cs typeface="Calibri" pitchFamily="34" charset="-120"/>
              </a:rPr>
              <a:t>How do we keep it working after launch?</a:t>
            </a:r>
            <a:endParaRPr lang="en-US" sz="1500" dirty="0"/>
          </a:p>
        </p:txBody>
      </p:sp>
      <p:sp>
        <p:nvSpPr>
          <p:cNvPr id="6" name="Shape 4"/>
          <p:cNvSpPr/>
          <p:nvPr/>
        </p:nvSpPr>
        <p:spPr>
          <a:xfrm>
            <a:off x="5029200" y="1325880"/>
            <a:ext cx="3657600" cy="3246120"/>
          </a:xfrm>
          <a:prstGeom prst="roundRect">
            <a:avLst>
              <a:gd name="adj" fmla="val 2535"/>
            </a:avLst>
          </a:prstGeom>
          <a:solidFill>
            <a:srgbClr val="E9F5F5"/>
          </a:solidFill>
          <a:ln/>
          <a:effectLst>
            <a:outerShdw sx="100000" sy="100000" kx="0" ky="0" algn="bl" rotWithShape="0" blurRad="88900" dist="25400" dir="2700000">
              <a:srgbClr val="000000">
                <a:alpha val="14000"/>
              </a:srgbClr>
            </a:outerShdw>
          </a:effectLst>
        </p:spPr>
      </p:sp>
      <p:sp>
        <p:nvSpPr>
          <p:cNvPr id="7" name="Shape 5"/>
          <p:cNvSpPr/>
          <p:nvPr/>
        </p:nvSpPr>
        <p:spPr>
          <a:xfrm>
            <a:off x="5349240" y="164592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5491886" y="1788566"/>
            <a:ext cx="263347" cy="263347"/>
          </a:xfrm>
          <a:prstGeom prst="rect">
            <a:avLst/>
          </a:prstGeom>
        </p:spPr>
      </p:pic>
      <p:sp>
        <p:nvSpPr>
          <p:cNvPr id="9" name="Text 6"/>
          <p:cNvSpPr/>
          <p:nvPr/>
        </p:nvSpPr>
        <p:spPr>
          <a:xfrm>
            <a:off x="6035040" y="1700784"/>
            <a:ext cx="2560320" cy="457200"/>
          </a:xfrm>
          <a:prstGeom prst="rect">
            <a:avLst/>
          </a:prstGeom>
          <a:noFill/>
          <a:ln/>
        </p:spPr>
        <p:txBody>
          <a:bodyPr wrap="square" lIns="0" tIns="0" rIns="0" bIns="0" rtlCol="0" anchor="ctr"/>
          <a:lstStyle/>
          <a:p>
            <a:pPr indent="0" marL="0">
              <a:buNone/>
            </a:pPr>
            <a:r>
              <a:rPr lang="en-US" sz="1500" b="1" dirty="0">
                <a:solidFill>
                  <a:srgbClr val="1E2E30"/>
                </a:solidFill>
                <a:latin typeface="Calibri" pitchFamily="34" charset="0"/>
                <a:ea typeface="Calibri" pitchFamily="34" charset="-122"/>
                <a:cs typeface="Calibri" pitchFamily="34" charset="-120"/>
              </a:rPr>
              <a:t>Think of it like building a house</a:t>
            </a:r>
            <a:endParaRPr lang="en-US" sz="1500" dirty="0"/>
          </a:p>
        </p:txBody>
      </p:sp>
      <p:sp>
        <p:nvSpPr>
          <p:cNvPr id="10" name="Text 7"/>
          <p:cNvSpPr/>
          <p:nvPr/>
        </p:nvSpPr>
        <p:spPr>
          <a:xfrm>
            <a:off x="5349240" y="2377440"/>
            <a:ext cx="3063240" cy="2011680"/>
          </a:xfrm>
          <a:prstGeom prst="rect">
            <a:avLst/>
          </a:prstGeom>
          <a:noFill/>
          <a:ln/>
        </p:spPr>
        <p:txBody>
          <a:bodyPr wrap="square" lIns="0" tIns="0" rIns="0" bIns="0" rtlCol="0" anchor="t"/>
          <a:lstStyle/>
          <a:p>
            <a:pPr indent="0" marL="0">
              <a:spcAft>
                <a:spcPts val="1000"/>
              </a:spcAft>
              <a:buNone/>
            </a:pPr>
            <a:r>
              <a:rPr lang="en-US" sz="1350" dirty="0">
                <a:solidFill>
                  <a:srgbClr val="1E2E30"/>
                </a:solidFill>
                <a:latin typeface="Calibri" pitchFamily="34" charset="0"/>
                <a:ea typeface="Calibri" pitchFamily="34" charset="-122"/>
                <a:cs typeface="Calibri" pitchFamily="34" charset="-120"/>
              </a:rPr>
              <a:t>You don't start by laying bricks. First you plan the budget, draw blueprints, then construct, inspect, and finally move in — and keep repairing over the years.</a:t>
            </a:r>
            <a:endParaRPr lang="en-US" sz="1350" dirty="0"/>
          </a:p>
          <a:p>
            <a:pPr indent="0" marL="0">
              <a:buNone/>
            </a:pPr>
            <a:r>
              <a:rPr lang="en-US" sz="1350" b="1" i="1" dirty="0">
                <a:solidFill>
                  <a:srgbClr val="028090"/>
                </a:solidFill>
                <a:latin typeface="Calibri" pitchFamily="34" charset="0"/>
                <a:ea typeface="Calibri" pitchFamily="34" charset="-122"/>
                <a:cs typeface="Calibri" pitchFamily="34" charset="-120"/>
              </a:rPr>
              <a:t>Software works the same way: skipping steps leads to shaky results.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WHY IT EXISTS</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Why does the IT industry follow the SDLC?</a:t>
            </a:r>
            <a:endParaRPr lang="en-US" sz="3200" dirty="0"/>
          </a:p>
        </p:txBody>
      </p:sp>
      <p:sp>
        <p:nvSpPr>
          <p:cNvPr id="4" name="Text 2"/>
          <p:cNvSpPr/>
          <p:nvPr/>
        </p:nvSpPr>
        <p:spPr>
          <a:xfrm>
            <a:off x="457200" y="1207008"/>
            <a:ext cx="8229600" cy="365760"/>
          </a:xfrm>
          <a:prstGeom prst="rect">
            <a:avLst/>
          </a:prstGeom>
          <a:noFill/>
          <a:ln/>
        </p:spPr>
        <p:txBody>
          <a:bodyPr wrap="square" lIns="0" tIns="0" rIns="0" bIns="0" rtlCol="0" anchor="ctr"/>
          <a:lstStyle/>
          <a:p>
            <a:pPr indent="0" marL="0">
              <a:buNone/>
            </a:pPr>
            <a:r>
              <a:rPr lang="en-US" sz="1450" i="1" dirty="0">
                <a:solidFill>
                  <a:srgbClr val="5F7377"/>
                </a:solidFill>
                <a:latin typeface="Calibri" pitchFamily="34" charset="0"/>
                <a:ea typeface="Calibri" pitchFamily="34" charset="-122"/>
                <a:cs typeface="Calibri" pitchFamily="34" charset="-120"/>
              </a:rPr>
              <a:t>Without a process, projects run late, cost more, and ship bugs. The SDLC keeps everyone aligned.</a:t>
            </a:r>
            <a:endParaRPr lang="en-US" sz="1450" dirty="0"/>
          </a:p>
        </p:txBody>
      </p:sp>
      <p:sp>
        <p:nvSpPr>
          <p:cNvPr id="5" name="Shape 3"/>
          <p:cNvSpPr/>
          <p:nvPr/>
        </p:nvSpPr>
        <p:spPr>
          <a:xfrm>
            <a:off x="457200" y="1691640"/>
            <a:ext cx="4023360" cy="1417320"/>
          </a:xfrm>
          <a:prstGeom prst="roundRect">
            <a:avLst>
              <a:gd name="adj" fmla="val 5161"/>
            </a:avLst>
          </a:prstGeom>
          <a:solidFill>
            <a:srgbClr val="F4FAF9"/>
          </a:solidFill>
          <a:ln/>
          <a:effectLst>
            <a:outerShdw sx="100000" sy="100000" kx="0" ky="0" algn="bl" rotWithShape="0" blurRad="88900" dist="25400" dir="2700000">
              <a:srgbClr val="000000">
                <a:alpha val="14000"/>
              </a:srgbClr>
            </a:outerShdw>
          </a:effectLst>
        </p:spPr>
      </p:sp>
      <p:sp>
        <p:nvSpPr>
          <p:cNvPr id="6" name="Shape 4"/>
          <p:cNvSpPr/>
          <p:nvPr/>
        </p:nvSpPr>
        <p:spPr>
          <a:xfrm>
            <a:off x="658368" y="1911096"/>
            <a:ext cx="475488" cy="475488"/>
          </a:xfrm>
          <a:prstGeom prst="ellipse">
            <a:avLst/>
          </a:prstGeom>
          <a:solidFill>
            <a:srgbClr val="028090"/>
          </a:solidFill>
          <a:ln/>
        </p:spPr>
      </p:sp>
      <p:pic>
        <p:nvPicPr>
          <p:cNvPr id="7" name="Image 0" descr="preencoded.png">    </p:cNvPr>
          <p:cNvPicPr>
            <a:picLocks noChangeAspect="1"/>
          </p:cNvPicPr>
          <p:nvPr/>
        </p:nvPicPr>
        <p:blipFill>
          <a:blip r:embed="rId1"/>
          <a:stretch>
            <a:fillRect/>
          </a:stretch>
        </p:blipFill>
        <p:spPr>
          <a:xfrm>
            <a:off x="781995" y="2034723"/>
            <a:ext cx="228234" cy="228234"/>
          </a:xfrm>
          <a:prstGeom prst="rect">
            <a:avLst/>
          </a:prstGeom>
        </p:spPr>
      </p:pic>
      <p:sp>
        <p:nvSpPr>
          <p:cNvPr id="8" name="Text 5"/>
          <p:cNvSpPr/>
          <p:nvPr/>
        </p:nvSpPr>
        <p:spPr>
          <a:xfrm>
            <a:off x="1280160" y="1911096"/>
            <a:ext cx="3017520" cy="320040"/>
          </a:xfrm>
          <a:prstGeom prst="rect">
            <a:avLst/>
          </a:prstGeom>
          <a:noFill/>
          <a:ln/>
        </p:spPr>
        <p:txBody>
          <a:bodyPr wrap="square" lIns="0" tIns="0" rIns="0" bIns="0" rtlCol="0" anchor="ctr"/>
          <a:lstStyle/>
          <a:p>
            <a:pPr indent="0" marL="0">
              <a:buNone/>
            </a:pPr>
            <a:r>
              <a:rPr lang="en-US" sz="1500" b="1" dirty="0">
                <a:solidFill>
                  <a:srgbClr val="1E2E30"/>
                </a:solidFill>
                <a:latin typeface="Calibri" pitchFamily="34" charset="0"/>
                <a:ea typeface="Calibri" pitchFamily="34" charset="-122"/>
                <a:cs typeface="Calibri" pitchFamily="34" charset="-120"/>
              </a:rPr>
              <a:t>Higher quality</a:t>
            </a:r>
            <a:endParaRPr lang="en-US" sz="1500" dirty="0"/>
          </a:p>
        </p:txBody>
      </p:sp>
      <p:sp>
        <p:nvSpPr>
          <p:cNvPr id="9" name="Text 6"/>
          <p:cNvSpPr/>
          <p:nvPr/>
        </p:nvSpPr>
        <p:spPr>
          <a:xfrm>
            <a:off x="1280160" y="2240280"/>
            <a:ext cx="2971800" cy="777240"/>
          </a:xfrm>
          <a:prstGeom prst="rect">
            <a:avLst/>
          </a:prstGeom>
          <a:noFill/>
          <a:ln/>
        </p:spPr>
        <p:txBody>
          <a:bodyPr wrap="square" lIns="0" tIns="0" rIns="0" bIns="0" rtlCol="0" anchor="t"/>
          <a:lstStyle/>
          <a:p>
            <a:pPr indent="0" marL="0">
              <a:buNone/>
            </a:pPr>
            <a:r>
              <a:rPr lang="en-US" sz="1200" dirty="0">
                <a:solidFill>
                  <a:srgbClr val="5F7377"/>
                </a:solidFill>
                <a:latin typeface="Calibri" pitchFamily="34" charset="0"/>
                <a:ea typeface="Calibri" pitchFamily="34" charset="-122"/>
                <a:cs typeface="Calibri" pitchFamily="34" charset="-120"/>
              </a:rPr>
              <a:t>Testing and reviews are built into every stage, so bugs are caught early — not by your users.</a:t>
            </a:r>
            <a:endParaRPr lang="en-US" sz="1200" dirty="0"/>
          </a:p>
        </p:txBody>
      </p:sp>
      <p:sp>
        <p:nvSpPr>
          <p:cNvPr id="10" name="Shape 7"/>
          <p:cNvSpPr/>
          <p:nvPr/>
        </p:nvSpPr>
        <p:spPr>
          <a:xfrm>
            <a:off x="4754880" y="1691640"/>
            <a:ext cx="4023360" cy="1417320"/>
          </a:xfrm>
          <a:prstGeom prst="roundRect">
            <a:avLst>
              <a:gd name="adj" fmla="val 5161"/>
            </a:avLst>
          </a:prstGeom>
          <a:solidFill>
            <a:srgbClr val="F4FAF9"/>
          </a:solidFill>
          <a:ln/>
          <a:effectLst>
            <a:outerShdw sx="100000" sy="100000" kx="0" ky="0" algn="bl" rotWithShape="0" blurRad="88900" dist="25400" dir="2700000">
              <a:srgbClr val="000000">
                <a:alpha val="14000"/>
              </a:srgbClr>
            </a:outerShdw>
          </a:effectLst>
        </p:spPr>
      </p:sp>
      <p:sp>
        <p:nvSpPr>
          <p:cNvPr id="11" name="Shape 8"/>
          <p:cNvSpPr/>
          <p:nvPr/>
        </p:nvSpPr>
        <p:spPr>
          <a:xfrm>
            <a:off x="4956048" y="1911096"/>
            <a:ext cx="475488" cy="475488"/>
          </a:xfrm>
          <a:prstGeom prst="ellipse">
            <a:avLst/>
          </a:prstGeom>
          <a:solidFill>
            <a:srgbClr val="028090"/>
          </a:solidFill>
          <a:ln/>
        </p:spPr>
      </p:sp>
      <p:pic>
        <p:nvPicPr>
          <p:cNvPr id="12" name="Image 1" descr="preencoded.png">    </p:cNvPr>
          <p:cNvPicPr>
            <a:picLocks noChangeAspect="1"/>
          </p:cNvPicPr>
          <p:nvPr/>
        </p:nvPicPr>
        <p:blipFill>
          <a:blip r:embed="rId2"/>
          <a:stretch>
            <a:fillRect/>
          </a:stretch>
        </p:blipFill>
        <p:spPr>
          <a:xfrm>
            <a:off x="5079675" y="2034723"/>
            <a:ext cx="228234" cy="228234"/>
          </a:xfrm>
          <a:prstGeom prst="rect">
            <a:avLst/>
          </a:prstGeom>
        </p:spPr>
      </p:pic>
      <p:sp>
        <p:nvSpPr>
          <p:cNvPr id="13" name="Text 9"/>
          <p:cNvSpPr/>
          <p:nvPr/>
        </p:nvSpPr>
        <p:spPr>
          <a:xfrm>
            <a:off x="5577840" y="1911096"/>
            <a:ext cx="3017520" cy="320040"/>
          </a:xfrm>
          <a:prstGeom prst="rect">
            <a:avLst/>
          </a:prstGeom>
          <a:noFill/>
          <a:ln/>
        </p:spPr>
        <p:txBody>
          <a:bodyPr wrap="square" lIns="0" tIns="0" rIns="0" bIns="0" rtlCol="0" anchor="ctr"/>
          <a:lstStyle/>
          <a:p>
            <a:pPr indent="0" marL="0">
              <a:buNone/>
            </a:pPr>
            <a:r>
              <a:rPr lang="en-US" sz="1500" b="1" dirty="0">
                <a:solidFill>
                  <a:srgbClr val="1E2E30"/>
                </a:solidFill>
                <a:latin typeface="Calibri" pitchFamily="34" charset="0"/>
                <a:ea typeface="Calibri" pitchFamily="34" charset="-122"/>
                <a:cs typeface="Calibri" pitchFamily="34" charset="-120"/>
              </a:rPr>
              <a:t>Lower cost</a:t>
            </a:r>
            <a:endParaRPr lang="en-US" sz="1500" dirty="0"/>
          </a:p>
        </p:txBody>
      </p:sp>
      <p:sp>
        <p:nvSpPr>
          <p:cNvPr id="14" name="Text 10"/>
          <p:cNvSpPr/>
          <p:nvPr/>
        </p:nvSpPr>
        <p:spPr>
          <a:xfrm>
            <a:off x="5577840" y="2240280"/>
            <a:ext cx="2971800" cy="777240"/>
          </a:xfrm>
          <a:prstGeom prst="rect">
            <a:avLst/>
          </a:prstGeom>
          <a:noFill/>
          <a:ln/>
        </p:spPr>
        <p:txBody>
          <a:bodyPr wrap="square" lIns="0" tIns="0" rIns="0" bIns="0" rtlCol="0" anchor="t"/>
          <a:lstStyle/>
          <a:p>
            <a:pPr indent="0" marL="0">
              <a:buNone/>
            </a:pPr>
            <a:r>
              <a:rPr lang="en-US" sz="1200" dirty="0">
                <a:solidFill>
                  <a:srgbClr val="5F7377"/>
                </a:solidFill>
                <a:latin typeface="Calibri" pitchFamily="34" charset="0"/>
                <a:ea typeface="Calibri" pitchFamily="34" charset="-122"/>
                <a:cs typeface="Calibri" pitchFamily="34" charset="-120"/>
              </a:rPr>
              <a:t>Fixing a mistake in planning is far cheaper than fixing it after the product has launched.</a:t>
            </a:r>
            <a:endParaRPr lang="en-US" sz="1200" dirty="0"/>
          </a:p>
        </p:txBody>
      </p:sp>
      <p:sp>
        <p:nvSpPr>
          <p:cNvPr id="15" name="Shape 11"/>
          <p:cNvSpPr/>
          <p:nvPr/>
        </p:nvSpPr>
        <p:spPr>
          <a:xfrm>
            <a:off x="457200" y="3383280"/>
            <a:ext cx="4023360" cy="1417320"/>
          </a:xfrm>
          <a:prstGeom prst="roundRect">
            <a:avLst>
              <a:gd name="adj" fmla="val 5161"/>
            </a:avLst>
          </a:prstGeom>
          <a:solidFill>
            <a:srgbClr val="F4FAF9"/>
          </a:solidFill>
          <a:ln/>
          <a:effectLst>
            <a:outerShdw sx="100000" sy="100000" kx="0" ky="0" algn="bl" rotWithShape="0" blurRad="88900" dist="25400" dir="2700000">
              <a:srgbClr val="000000">
                <a:alpha val="14000"/>
              </a:srgbClr>
            </a:outerShdw>
          </a:effectLst>
        </p:spPr>
      </p:sp>
      <p:sp>
        <p:nvSpPr>
          <p:cNvPr id="16" name="Shape 12"/>
          <p:cNvSpPr/>
          <p:nvPr/>
        </p:nvSpPr>
        <p:spPr>
          <a:xfrm>
            <a:off x="658368" y="3602736"/>
            <a:ext cx="475488" cy="475488"/>
          </a:xfrm>
          <a:prstGeom prst="ellipse">
            <a:avLst/>
          </a:prstGeom>
          <a:solidFill>
            <a:srgbClr val="028090"/>
          </a:solidFill>
          <a:ln/>
        </p:spPr>
      </p:sp>
      <p:pic>
        <p:nvPicPr>
          <p:cNvPr id="17" name="Image 2" descr="preencoded.png">    </p:cNvPr>
          <p:cNvPicPr>
            <a:picLocks noChangeAspect="1"/>
          </p:cNvPicPr>
          <p:nvPr/>
        </p:nvPicPr>
        <p:blipFill>
          <a:blip r:embed="rId3"/>
          <a:stretch>
            <a:fillRect/>
          </a:stretch>
        </p:blipFill>
        <p:spPr>
          <a:xfrm>
            <a:off x="781995" y="3726363"/>
            <a:ext cx="228234" cy="228234"/>
          </a:xfrm>
          <a:prstGeom prst="rect">
            <a:avLst/>
          </a:prstGeom>
        </p:spPr>
      </p:pic>
      <p:sp>
        <p:nvSpPr>
          <p:cNvPr id="18" name="Text 13"/>
          <p:cNvSpPr/>
          <p:nvPr/>
        </p:nvSpPr>
        <p:spPr>
          <a:xfrm>
            <a:off x="1280160" y="3602736"/>
            <a:ext cx="3017520" cy="320040"/>
          </a:xfrm>
          <a:prstGeom prst="rect">
            <a:avLst/>
          </a:prstGeom>
          <a:noFill/>
          <a:ln/>
        </p:spPr>
        <p:txBody>
          <a:bodyPr wrap="square" lIns="0" tIns="0" rIns="0" bIns="0" rtlCol="0" anchor="ctr"/>
          <a:lstStyle/>
          <a:p>
            <a:pPr indent="0" marL="0">
              <a:buNone/>
            </a:pPr>
            <a:r>
              <a:rPr lang="en-US" sz="1500" b="1" dirty="0">
                <a:solidFill>
                  <a:srgbClr val="1E2E30"/>
                </a:solidFill>
                <a:latin typeface="Calibri" pitchFamily="34" charset="0"/>
                <a:ea typeface="Calibri" pitchFamily="34" charset="-122"/>
                <a:cs typeface="Calibri" pitchFamily="34" charset="-120"/>
              </a:rPr>
              <a:t>Predictable timelines</a:t>
            </a:r>
            <a:endParaRPr lang="en-US" sz="1500" dirty="0"/>
          </a:p>
        </p:txBody>
      </p:sp>
      <p:sp>
        <p:nvSpPr>
          <p:cNvPr id="19" name="Text 14"/>
          <p:cNvSpPr/>
          <p:nvPr/>
        </p:nvSpPr>
        <p:spPr>
          <a:xfrm>
            <a:off x="1280160" y="3931920"/>
            <a:ext cx="2971800" cy="777240"/>
          </a:xfrm>
          <a:prstGeom prst="rect">
            <a:avLst/>
          </a:prstGeom>
          <a:noFill/>
          <a:ln/>
        </p:spPr>
        <p:txBody>
          <a:bodyPr wrap="square" lIns="0" tIns="0" rIns="0" bIns="0" rtlCol="0" anchor="t"/>
          <a:lstStyle/>
          <a:p>
            <a:pPr indent="0" marL="0">
              <a:buNone/>
            </a:pPr>
            <a:r>
              <a:rPr lang="en-US" sz="1200" dirty="0">
                <a:solidFill>
                  <a:srgbClr val="5F7377"/>
                </a:solidFill>
                <a:latin typeface="Calibri" pitchFamily="34" charset="0"/>
                <a:ea typeface="Calibri" pitchFamily="34" charset="-122"/>
                <a:cs typeface="Calibri" pitchFamily="34" charset="-120"/>
              </a:rPr>
              <a:t>Clear phases and deliverables make it possible to estimate deadlines and track progress.</a:t>
            </a:r>
            <a:endParaRPr lang="en-US" sz="1200" dirty="0"/>
          </a:p>
        </p:txBody>
      </p:sp>
      <p:sp>
        <p:nvSpPr>
          <p:cNvPr id="20" name="Shape 15"/>
          <p:cNvSpPr/>
          <p:nvPr/>
        </p:nvSpPr>
        <p:spPr>
          <a:xfrm>
            <a:off x="4754880" y="3383280"/>
            <a:ext cx="4023360" cy="1417320"/>
          </a:xfrm>
          <a:prstGeom prst="roundRect">
            <a:avLst>
              <a:gd name="adj" fmla="val 5161"/>
            </a:avLst>
          </a:prstGeom>
          <a:solidFill>
            <a:srgbClr val="F4FAF9"/>
          </a:solidFill>
          <a:ln/>
          <a:effectLst>
            <a:outerShdw sx="100000" sy="100000" kx="0" ky="0" algn="bl" rotWithShape="0" blurRad="88900" dist="25400" dir="2700000">
              <a:srgbClr val="000000">
                <a:alpha val="14000"/>
              </a:srgbClr>
            </a:outerShdw>
          </a:effectLst>
        </p:spPr>
      </p:sp>
      <p:sp>
        <p:nvSpPr>
          <p:cNvPr id="21" name="Shape 16"/>
          <p:cNvSpPr/>
          <p:nvPr/>
        </p:nvSpPr>
        <p:spPr>
          <a:xfrm>
            <a:off x="4956048" y="3602736"/>
            <a:ext cx="475488" cy="475488"/>
          </a:xfrm>
          <a:prstGeom prst="ellipse">
            <a:avLst/>
          </a:prstGeom>
          <a:solidFill>
            <a:srgbClr val="028090"/>
          </a:solidFill>
          <a:ln/>
        </p:spPr>
      </p:sp>
      <p:pic>
        <p:nvPicPr>
          <p:cNvPr id="22" name="Image 3" descr="preencoded.png">    </p:cNvPr>
          <p:cNvPicPr>
            <a:picLocks noChangeAspect="1"/>
          </p:cNvPicPr>
          <p:nvPr/>
        </p:nvPicPr>
        <p:blipFill>
          <a:blip r:embed="rId4"/>
          <a:stretch>
            <a:fillRect/>
          </a:stretch>
        </p:blipFill>
        <p:spPr>
          <a:xfrm>
            <a:off x="5079675" y="3726363"/>
            <a:ext cx="228234" cy="228234"/>
          </a:xfrm>
          <a:prstGeom prst="rect">
            <a:avLst/>
          </a:prstGeom>
        </p:spPr>
      </p:pic>
      <p:sp>
        <p:nvSpPr>
          <p:cNvPr id="23" name="Text 17"/>
          <p:cNvSpPr/>
          <p:nvPr/>
        </p:nvSpPr>
        <p:spPr>
          <a:xfrm>
            <a:off x="5577840" y="3602736"/>
            <a:ext cx="3017520" cy="320040"/>
          </a:xfrm>
          <a:prstGeom prst="rect">
            <a:avLst/>
          </a:prstGeom>
          <a:noFill/>
          <a:ln/>
        </p:spPr>
        <p:txBody>
          <a:bodyPr wrap="square" lIns="0" tIns="0" rIns="0" bIns="0" rtlCol="0" anchor="ctr"/>
          <a:lstStyle/>
          <a:p>
            <a:pPr indent="0" marL="0">
              <a:buNone/>
            </a:pPr>
            <a:r>
              <a:rPr lang="en-US" sz="1500" b="1" dirty="0">
                <a:solidFill>
                  <a:srgbClr val="1E2E30"/>
                </a:solidFill>
                <a:latin typeface="Calibri" pitchFamily="34" charset="0"/>
                <a:ea typeface="Calibri" pitchFamily="34" charset="-122"/>
                <a:cs typeface="Calibri" pitchFamily="34" charset="-120"/>
              </a:rPr>
              <a:t>Better teamwork</a:t>
            </a:r>
            <a:endParaRPr lang="en-US" sz="1500" dirty="0"/>
          </a:p>
        </p:txBody>
      </p:sp>
      <p:sp>
        <p:nvSpPr>
          <p:cNvPr id="24" name="Text 18"/>
          <p:cNvSpPr/>
          <p:nvPr/>
        </p:nvSpPr>
        <p:spPr>
          <a:xfrm>
            <a:off x="5577840" y="3931920"/>
            <a:ext cx="2971800" cy="777240"/>
          </a:xfrm>
          <a:prstGeom prst="rect">
            <a:avLst/>
          </a:prstGeom>
          <a:noFill/>
          <a:ln/>
        </p:spPr>
        <p:txBody>
          <a:bodyPr wrap="square" lIns="0" tIns="0" rIns="0" bIns="0" rtlCol="0" anchor="t"/>
          <a:lstStyle/>
          <a:p>
            <a:pPr indent="0" marL="0">
              <a:buNone/>
            </a:pPr>
            <a:r>
              <a:rPr lang="en-US" sz="1200" dirty="0">
                <a:solidFill>
                  <a:srgbClr val="5F7377"/>
                </a:solidFill>
                <a:latin typeface="Calibri" pitchFamily="34" charset="0"/>
                <a:ea typeface="Calibri" pitchFamily="34" charset="-122"/>
                <a:cs typeface="Calibri" pitchFamily="34" charset="-120"/>
              </a:rPr>
              <a:t>Everyone — clients, managers, developers, testers — shares one common plan and vocabulary.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THE ROADMAP</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The 7 phases at a glance</a:t>
            </a:r>
            <a:endParaRPr lang="en-US" sz="3200" dirty="0"/>
          </a:p>
        </p:txBody>
      </p:sp>
      <p:sp>
        <p:nvSpPr>
          <p:cNvPr id="4" name="Shape 2"/>
          <p:cNvSpPr/>
          <p:nvPr/>
        </p:nvSpPr>
        <p:spPr>
          <a:xfrm>
            <a:off x="681228" y="1783080"/>
            <a:ext cx="603504" cy="603504"/>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838139" y="1939991"/>
            <a:ext cx="289682" cy="289682"/>
          </a:xfrm>
          <a:prstGeom prst="rect">
            <a:avLst/>
          </a:prstGeom>
        </p:spPr>
      </p:pic>
      <p:sp>
        <p:nvSpPr>
          <p:cNvPr id="6" name="Shape 3"/>
          <p:cNvSpPr/>
          <p:nvPr/>
        </p:nvSpPr>
        <p:spPr>
          <a:xfrm>
            <a:off x="1083564" y="1728216"/>
            <a:ext cx="237744" cy="237744"/>
          </a:xfrm>
          <a:prstGeom prst="ellipse">
            <a:avLst/>
          </a:prstGeom>
          <a:solidFill>
            <a:srgbClr val="02C39A"/>
          </a:solidFill>
          <a:ln/>
        </p:spPr>
      </p:sp>
      <p:sp>
        <p:nvSpPr>
          <p:cNvPr id="7" name="Text 4"/>
          <p:cNvSpPr/>
          <p:nvPr/>
        </p:nvSpPr>
        <p:spPr>
          <a:xfrm>
            <a:off x="1083564"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329184"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Planning</a:t>
            </a:r>
            <a:endParaRPr lang="en-US" sz="1250" dirty="0"/>
          </a:p>
        </p:txBody>
      </p:sp>
      <p:sp>
        <p:nvSpPr>
          <p:cNvPr id="9" name="Text 6"/>
          <p:cNvSpPr/>
          <p:nvPr/>
        </p:nvSpPr>
        <p:spPr>
          <a:xfrm>
            <a:off x="356616"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Set goals, scope &amp; budget</a:t>
            </a:r>
            <a:endParaRPr lang="en-US" sz="1000" dirty="0"/>
          </a:p>
        </p:txBody>
      </p:sp>
      <p:sp>
        <p:nvSpPr>
          <p:cNvPr id="10" name="Text 7"/>
          <p:cNvSpPr/>
          <p:nvPr/>
        </p:nvSpPr>
        <p:spPr>
          <a:xfrm>
            <a:off x="1408176" y="1929384"/>
            <a:ext cx="347472" cy="310896"/>
          </a:xfrm>
          <a:prstGeom prst="rect">
            <a:avLst/>
          </a:prstGeom>
          <a:noFill/>
          <a:ln/>
        </p:spPr>
        <p:txBody>
          <a:bodyPr wrap="square" lIns="0" tIns="0" rIns="0" bIns="0" rtlCol="0" anchor="ctr"/>
          <a:lstStyle/>
          <a:p>
            <a:pPr algn="ctr" indent="0" marL="0">
              <a:buNone/>
            </a:pPr>
            <a:r>
              <a:rPr lang="en-US" sz="1600" b="1" dirty="0">
                <a:solidFill>
                  <a:srgbClr val="00A896"/>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1879092" y="1783080"/>
            <a:ext cx="603504" cy="603504"/>
          </a:xfrm>
          <a:prstGeom prst="ellipse">
            <a:avLst/>
          </a:prstGeom>
          <a:solidFill>
            <a:srgbClr val="028090"/>
          </a:solidFill>
          <a:ln/>
        </p:spPr>
      </p:sp>
      <p:pic>
        <p:nvPicPr>
          <p:cNvPr id="12" name="Image 1" descr="preencoded.png">    </p:cNvPr>
          <p:cNvPicPr>
            <a:picLocks noChangeAspect="1"/>
          </p:cNvPicPr>
          <p:nvPr/>
        </p:nvPicPr>
        <p:blipFill>
          <a:blip r:embed="rId2"/>
          <a:stretch>
            <a:fillRect/>
          </a:stretch>
        </p:blipFill>
        <p:spPr>
          <a:xfrm>
            <a:off x="2036003" y="1939991"/>
            <a:ext cx="289682" cy="289682"/>
          </a:xfrm>
          <a:prstGeom prst="rect">
            <a:avLst/>
          </a:prstGeom>
        </p:spPr>
      </p:pic>
      <p:sp>
        <p:nvSpPr>
          <p:cNvPr id="13" name="Shape 9"/>
          <p:cNvSpPr/>
          <p:nvPr/>
        </p:nvSpPr>
        <p:spPr>
          <a:xfrm>
            <a:off x="2281428" y="1728216"/>
            <a:ext cx="237744" cy="237744"/>
          </a:xfrm>
          <a:prstGeom prst="ellipse">
            <a:avLst/>
          </a:prstGeom>
          <a:solidFill>
            <a:srgbClr val="02C39A"/>
          </a:solidFill>
          <a:ln/>
        </p:spPr>
      </p:sp>
      <p:sp>
        <p:nvSpPr>
          <p:cNvPr id="14" name="Text 10"/>
          <p:cNvSpPr/>
          <p:nvPr/>
        </p:nvSpPr>
        <p:spPr>
          <a:xfrm>
            <a:off x="2281428"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2</a:t>
            </a:r>
            <a:endParaRPr lang="en-US" sz="1100" dirty="0"/>
          </a:p>
        </p:txBody>
      </p:sp>
      <p:sp>
        <p:nvSpPr>
          <p:cNvPr id="15" name="Text 11"/>
          <p:cNvSpPr/>
          <p:nvPr/>
        </p:nvSpPr>
        <p:spPr>
          <a:xfrm>
            <a:off x="1527048"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Requirements</a:t>
            </a:r>
            <a:endParaRPr lang="en-US" sz="1250" dirty="0"/>
          </a:p>
        </p:txBody>
      </p:sp>
      <p:sp>
        <p:nvSpPr>
          <p:cNvPr id="16" name="Text 12"/>
          <p:cNvSpPr/>
          <p:nvPr/>
        </p:nvSpPr>
        <p:spPr>
          <a:xfrm>
            <a:off x="1554480"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Capture what users need</a:t>
            </a:r>
            <a:endParaRPr lang="en-US" sz="1000" dirty="0"/>
          </a:p>
        </p:txBody>
      </p:sp>
      <p:sp>
        <p:nvSpPr>
          <p:cNvPr id="17" name="Text 13"/>
          <p:cNvSpPr/>
          <p:nvPr/>
        </p:nvSpPr>
        <p:spPr>
          <a:xfrm>
            <a:off x="2606040" y="1929384"/>
            <a:ext cx="347472" cy="310896"/>
          </a:xfrm>
          <a:prstGeom prst="rect">
            <a:avLst/>
          </a:prstGeom>
          <a:noFill/>
          <a:ln/>
        </p:spPr>
        <p:txBody>
          <a:bodyPr wrap="square" lIns="0" tIns="0" rIns="0" bIns="0" rtlCol="0" anchor="ctr"/>
          <a:lstStyle/>
          <a:p>
            <a:pPr algn="ctr" indent="0" marL="0">
              <a:buNone/>
            </a:pPr>
            <a:r>
              <a:rPr lang="en-US" sz="1600" b="1" dirty="0">
                <a:solidFill>
                  <a:srgbClr val="00A896"/>
                </a:solidFill>
                <a:latin typeface="Calibri" pitchFamily="34" charset="0"/>
                <a:ea typeface="Calibri" pitchFamily="34" charset="-122"/>
                <a:cs typeface="Calibri" pitchFamily="34" charset="-120"/>
              </a:rPr>
              <a:t>→</a:t>
            </a:r>
            <a:endParaRPr lang="en-US" sz="1600" dirty="0"/>
          </a:p>
        </p:txBody>
      </p:sp>
      <p:sp>
        <p:nvSpPr>
          <p:cNvPr id="18" name="Shape 14"/>
          <p:cNvSpPr/>
          <p:nvPr/>
        </p:nvSpPr>
        <p:spPr>
          <a:xfrm>
            <a:off x="3076956" y="1783080"/>
            <a:ext cx="603504" cy="603504"/>
          </a:xfrm>
          <a:prstGeom prst="ellipse">
            <a:avLst/>
          </a:prstGeom>
          <a:solidFill>
            <a:srgbClr val="028090"/>
          </a:solidFill>
          <a:ln/>
        </p:spPr>
      </p:sp>
      <p:pic>
        <p:nvPicPr>
          <p:cNvPr id="19" name="Image 2" descr="preencoded.png">    </p:cNvPr>
          <p:cNvPicPr>
            <a:picLocks noChangeAspect="1"/>
          </p:cNvPicPr>
          <p:nvPr/>
        </p:nvPicPr>
        <p:blipFill>
          <a:blip r:embed="rId3"/>
          <a:stretch>
            <a:fillRect/>
          </a:stretch>
        </p:blipFill>
        <p:spPr>
          <a:xfrm>
            <a:off x="3233867" y="1939991"/>
            <a:ext cx="289682" cy="289682"/>
          </a:xfrm>
          <a:prstGeom prst="rect">
            <a:avLst/>
          </a:prstGeom>
        </p:spPr>
      </p:pic>
      <p:sp>
        <p:nvSpPr>
          <p:cNvPr id="20" name="Shape 15"/>
          <p:cNvSpPr/>
          <p:nvPr/>
        </p:nvSpPr>
        <p:spPr>
          <a:xfrm>
            <a:off x="3479292" y="1728216"/>
            <a:ext cx="237744" cy="237744"/>
          </a:xfrm>
          <a:prstGeom prst="ellipse">
            <a:avLst/>
          </a:prstGeom>
          <a:solidFill>
            <a:srgbClr val="02C39A"/>
          </a:solidFill>
          <a:ln/>
        </p:spPr>
      </p:sp>
      <p:sp>
        <p:nvSpPr>
          <p:cNvPr id="21" name="Text 16"/>
          <p:cNvSpPr/>
          <p:nvPr/>
        </p:nvSpPr>
        <p:spPr>
          <a:xfrm>
            <a:off x="3479292"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3</a:t>
            </a:r>
            <a:endParaRPr lang="en-US" sz="1100" dirty="0"/>
          </a:p>
        </p:txBody>
      </p:sp>
      <p:sp>
        <p:nvSpPr>
          <p:cNvPr id="22" name="Text 17"/>
          <p:cNvSpPr/>
          <p:nvPr/>
        </p:nvSpPr>
        <p:spPr>
          <a:xfrm>
            <a:off x="2724912"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Design</a:t>
            </a:r>
            <a:endParaRPr lang="en-US" sz="1250" dirty="0"/>
          </a:p>
        </p:txBody>
      </p:sp>
      <p:sp>
        <p:nvSpPr>
          <p:cNvPr id="23" name="Text 18"/>
          <p:cNvSpPr/>
          <p:nvPr/>
        </p:nvSpPr>
        <p:spPr>
          <a:xfrm>
            <a:off x="2752344"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Blueprint the solution</a:t>
            </a:r>
            <a:endParaRPr lang="en-US" sz="1000" dirty="0"/>
          </a:p>
        </p:txBody>
      </p:sp>
      <p:sp>
        <p:nvSpPr>
          <p:cNvPr id="24" name="Text 19"/>
          <p:cNvSpPr/>
          <p:nvPr/>
        </p:nvSpPr>
        <p:spPr>
          <a:xfrm>
            <a:off x="3803904" y="1929384"/>
            <a:ext cx="347472" cy="310896"/>
          </a:xfrm>
          <a:prstGeom prst="rect">
            <a:avLst/>
          </a:prstGeom>
          <a:noFill/>
          <a:ln/>
        </p:spPr>
        <p:txBody>
          <a:bodyPr wrap="square" lIns="0" tIns="0" rIns="0" bIns="0" rtlCol="0" anchor="ctr"/>
          <a:lstStyle/>
          <a:p>
            <a:pPr algn="ctr" indent="0" marL="0">
              <a:buNone/>
            </a:pPr>
            <a:r>
              <a:rPr lang="en-US" sz="1600" b="1" dirty="0">
                <a:solidFill>
                  <a:srgbClr val="00A896"/>
                </a:solidFill>
                <a:latin typeface="Calibri" pitchFamily="34" charset="0"/>
                <a:ea typeface="Calibri" pitchFamily="34" charset="-122"/>
                <a:cs typeface="Calibri" pitchFamily="34" charset="-120"/>
              </a:rPr>
              <a:t>→</a:t>
            </a:r>
            <a:endParaRPr lang="en-US" sz="1600" dirty="0"/>
          </a:p>
        </p:txBody>
      </p:sp>
      <p:sp>
        <p:nvSpPr>
          <p:cNvPr id="25" name="Shape 20"/>
          <p:cNvSpPr/>
          <p:nvPr/>
        </p:nvSpPr>
        <p:spPr>
          <a:xfrm>
            <a:off x="4274820" y="1783080"/>
            <a:ext cx="603504" cy="603504"/>
          </a:xfrm>
          <a:prstGeom prst="ellipse">
            <a:avLst/>
          </a:prstGeom>
          <a:solidFill>
            <a:srgbClr val="028090"/>
          </a:solidFill>
          <a:ln/>
        </p:spPr>
      </p:sp>
      <p:pic>
        <p:nvPicPr>
          <p:cNvPr id="26" name="Image 3" descr="preencoded.png">    </p:cNvPr>
          <p:cNvPicPr>
            <a:picLocks noChangeAspect="1"/>
          </p:cNvPicPr>
          <p:nvPr/>
        </p:nvPicPr>
        <p:blipFill>
          <a:blip r:embed="rId4"/>
          <a:stretch>
            <a:fillRect/>
          </a:stretch>
        </p:blipFill>
        <p:spPr>
          <a:xfrm>
            <a:off x="4431731" y="1939991"/>
            <a:ext cx="289682" cy="289682"/>
          </a:xfrm>
          <a:prstGeom prst="rect">
            <a:avLst/>
          </a:prstGeom>
        </p:spPr>
      </p:pic>
      <p:sp>
        <p:nvSpPr>
          <p:cNvPr id="27" name="Shape 21"/>
          <p:cNvSpPr/>
          <p:nvPr/>
        </p:nvSpPr>
        <p:spPr>
          <a:xfrm>
            <a:off x="4677156" y="1728216"/>
            <a:ext cx="237744" cy="237744"/>
          </a:xfrm>
          <a:prstGeom prst="ellipse">
            <a:avLst/>
          </a:prstGeom>
          <a:solidFill>
            <a:srgbClr val="02C39A"/>
          </a:solidFill>
          <a:ln/>
        </p:spPr>
      </p:sp>
      <p:sp>
        <p:nvSpPr>
          <p:cNvPr id="28" name="Text 22"/>
          <p:cNvSpPr/>
          <p:nvPr/>
        </p:nvSpPr>
        <p:spPr>
          <a:xfrm>
            <a:off x="4677156"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4</a:t>
            </a:r>
            <a:endParaRPr lang="en-US" sz="1100" dirty="0"/>
          </a:p>
        </p:txBody>
      </p:sp>
      <p:sp>
        <p:nvSpPr>
          <p:cNvPr id="29" name="Text 23"/>
          <p:cNvSpPr/>
          <p:nvPr/>
        </p:nvSpPr>
        <p:spPr>
          <a:xfrm>
            <a:off x="3922776"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Development</a:t>
            </a:r>
            <a:endParaRPr lang="en-US" sz="1250" dirty="0"/>
          </a:p>
        </p:txBody>
      </p:sp>
      <p:sp>
        <p:nvSpPr>
          <p:cNvPr id="30" name="Text 24"/>
          <p:cNvSpPr/>
          <p:nvPr/>
        </p:nvSpPr>
        <p:spPr>
          <a:xfrm>
            <a:off x="3950208"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Write the actual code</a:t>
            </a:r>
            <a:endParaRPr lang="en-US" sz="1000" dirty="0"/>
          </a:p>
        </p:txBody>
      </p:sp>
      <p:sp>
        <p:nvSpPr>
          <p:cNvPr id="31" name="Text 25"/>
          <p:cNvSpPr/>
          <p:nvPr/>
        </p:nvSpPr>
        <p:spPr>
          <a:xfrm>
            <a:off x="5001768" y="1929384"/>
            <a:ext cx="347472" cy="310896"/>
          </a:xfrm>
          <a:prstGeom prst="rect">
            <a:avLst/>
          </a:prstGeom>
          <a:noFill/>
          <a:ln/>
        </p:spPr>
        <p:txBody>
          <a:bodyPr wrap="square" lIns="0" tIns="0" rIns="0" bIns="0" rtlCol="0" anchor="ctr"/>
          <a:lstStyle/>
          <a:p>
            <a:pPr algn="ctr" indent="0" marL="0">
              <a:buNone/>
            </a:pPr>
            <a:r>
              <a:rPr lang="en-US" sz="1600" b="1" dirty="0">
                <a:solidFill>
                  <a:srgbClr val="00A896"/>
                </a:solidFill>
                <a:latin typeface="Calibri" pitchFamily="34" charset="0"/>
                <a:ea typeface="Calibri" pitchFamily="34" charset="-122"/>
                <a:cs typeface="Calibri" pitchFamily="34" charset="-120"/>
              </a:rPr>
              <a:t>→</a:t>
            </a:r>
            <a:endParaRPr lang="en-US" sz="1600" dirty="0"/>
          </a:p>
        </p:txBody>
      </p:sp>
      <p:sp>
        <p:nvSpPr>
          <p:cNvPr id="32" name="Shape 26"/>
          <p:cNvSpPr/>
          <p:nvPr/>
        </p:nvSpPr>
        <p:spPr>
          <a:xfrm>
            <a:off x="5472684" y="1783080"/>
            <a:ext cx="603504" cy="603504"/>
          </a:xfrm>
          <a:prstGeom prst="ellipse">
            <a:avLst/>
          </a:prstGeom>
          <a:solidFill>
            <a:srgbClr val="028090"/>
          </a:solidFill>
          <a:ln/>
        </p:spPr>
      </p:sp>
      <p:pic>
        <p:nvPicPr>
          <p:cNvPr id="33" name="Image 4" descr="preencoded.png">    </p:cNvPr>
          <p:cNvPicPr>
            <a:picLocks noChangeAspect="1"/>
          </p:cNvPicPr>
          <p:nvPr/>
        </p:nvPicPr>
        <p:blipFill>
          <a:blip r:embed="rId5"/>
          <a:stretch>
            <a:fillRect/>
          </a:stretch>
        </p:blipFill>
        <p:spPr>
          <a:xfrm>
            <a:off x="5629595" y="1939991"/>
            <a:ext cx="289682" cy="289682"/>
          </a:xfrm>
          <a:prstGeom prst="rect">
            <a:avLst/>
          </a:prstGeom>
        </p:spPr>
      </p:pic>
      <p:sp>
        <p:nvSpPr>
          <p:cNvPr id="34" name="Shape 27"/>
          <p:cNvSpPr/>
          <p:nvPr/>
        </p:nvSpPr>
        <p:spPr>
          <a:xfrm>
            <a:off x="5875020" y="1728216"/>
            <a:ext cx="237744" cy="237744"/>
          </a:xfrm>
          <a:prstGeom prst="ellipse">
            <a:avLst/>
          </a:prstGeom>
          <a:solidFill>
            <a:srgbClr val="02C39A"/>
          </a:solidFill>
          <a:ln/>
        </p:spPr>
      </p:sp>
      <p:sp>
        <p:nvSpPr>
          <p:cNvPr id="35" name="Text 28"/>
          <p:cNvSpPr/>
          <p:nvPr/>
        </p:nvSpPr>
        <p:spPr>
          <a:xfrm>
            <a:off x="5875020"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5</a:t>
            </a:r>
            <a:endParaRPr lang="en-US" sz="1100" dirty="0"/>
          </a:p>
        </p:txBody>
      </p:sp>
      <p:sp>
        <p:nvSpPr>
          <p:cNvPr id="36" name="Text 29"/>
          <p:cNvSpPr/>
          <p:nvPr/>
        </p:nvSpPr>
        <p:spPr>
          <a:xfrm>
            <a:off x="5120640"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Testing</a:t>
            </a:r>
            <a:endParaRPr lang="en-US" sz="1250" dirty="0"/>
          </a:p>
        </p:txBody>
      </p:sp>
      <p:sp>
        <p:nvSpPr>
          <p:cNvPr id="37" name="Text 30"/>
          <p:cNvSpPr/>
          <p:nvPr/>
        </p:nvSpPr>
        <p:spPr>
          <a:xfrm>
            <a:off x="5148072"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Find &amp; fix the bugs</a:t>
            </a:r>
            <a:endParaRPr lang="en-US" sz="1000" dirty="0"/>
          </a:p>
        </p:txBody>
      </p:sp>
      <p:sp>
        <p:nvSpPr>
          <p:cNvPr id="38" name="Text 31"/>
          <p:cNvSpPr/>
          <p:nvPr/>
        </p:nvSpPr>
        <p:spPr>
          <a:xfrm>
            <a:off x="6199632" y="1929384"/>
            <a:ext cx="347472" cy="310896"/>
          </a:xfrm>
          <a:prstGeom prst="rect">
            <a:avLst/>
          </a:prstGeom>
          <a:noFill/>
          <a:ln/>
        </p:spPr>
        <p:txBody>
          <a:bodyPr wrap="square" lIns="0" tIns="0" rIns="0" bIns="0" rtlCol="0" anchor="ctr"/>
          <a:lstStyle/>
          <a:p>
            <a:pPr algn="ctr" indent="0" marL="0">
              <a:buNone/>
            </a:pPr>
            <a:r>
              <a:rPr lang="en-US" sz="1600" b="1" dirty="0">
                <a:solidFill>
                  <a:srgbClr val="00A896"/>
                </a:solidFill>
                <a:latin typeface="Calibri" pitchFamily="34" charset="0"/>
                <a:ea typeface="Calibri" pitchFamily="34" charset="-122"/>
                <a:cs typeface="Calibri" pitchFamily="34" charset="-120"/>
              </a:rPr>
              <a:t>→</a:t>
            </a:r>
            <a:endParaRPr lang="en-US" sz="1600" dirty="0"/>
          </a:p>
        </p:txBody>
      </p:sp>
      <p:sp>
        <p:nvSpPr>
          <p:cNvPr id="39" name="Shape 32"/>
          <p:cNvSpPr/>
          <p:nvPr/>
        </p:nvSpPr>
        <p:spPr>
          <a:xfrm>
            <a:off x="6670548" y="1783080"/>
            <a:ext cx="603504" cy="603504"/>
          </a:xfrm>
          <a:prstGeom prst="ellipse">
            <a:avLst/>
          </a:prstGeom>
          <a:solidFill>
            <a:srgbClr val="028090"/>
          </a:solidFill>
          <a:ln/>
        </p:spPr>
      </p:sp>
      <p:pic>
        <p:nvPicPr>
          <p:cNvPr id="40" name="Image 5" descr="preencoded.png">    </p:cNvPr>
          <p:cNvPicPr>
            <a:picLocks noChangeAspect="1"/>
          </p:cNvPicPr>
          <p:nvPr/>
        </p:nvPicPr>
        <p:blipFill>
          <a:blip r:embed="rId6"/>
          <a:stretch>
            <a:fillRect/>
          </a:stretch>
        </p:blipFill>
        <p:spPr>
          <a:xfrm>
            <a:off x="6827459" y="1939991"/>
            <a:ext cx="289682" cy="289682"/>
          </a:xfrm>
          <a:prstGeom prst="rect">
            <a:avLst/>
          </a:prstGeom>
        </p:spPr>
      </p:pic>
      <p:sp>
        <p:nvSpPr>
          <p:cNvPr id="41" name="Shape 33"/>
          <p:cNvSpPr/>
          <p:nvPr/>
        </p:nvSpPr>
        <p:spPr>
          <a:xfrm>
            <a:off x="7072884" y="1728216"/>
            <a:ext cx="237744" cy="237744"/>
          </a:xfrm>
          <a:prstGeom prst="ellipse">
            <a:avLst/>
          </a:prstGeom>
          <a:solidFill>
            <a:srgbClr val="02C39A"/>
          </a:solidFill>
          <a:ln/>
        </p:spPr>
      </p:sp>
      <p:sp>
        <p:nvSpPr>
          <p:cNvPr id="42" name="Text 34"/>
          <p:cNvSpPr/>
          <p:nvPr/>
        </p:nvSpPr>
        <p:spPr>
          <a:xfrm>
            <a:off x="7072884"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6</a:t>
            </a:r>
            <a:endParaRPr lang="en-US" sz="1100" dirty="0"/>
          </a:p>
        </p:txBody>
      </p:sp>
      <p:sp>
        <p:nvSpPr>
          <p:cNvPr id="43" name="Text 35"/>
          <p:cNvSpPr/>
          <p:nvPr/>
        </p:nvSpPr>
        <p:spPr>
          <a:xfrm>
            <a:off x="6318504"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Deployment</a:t>
            </a:r>
            <a:endParaRPr lang="en-US" sz="1250" dirty="0"/>
          </a:p>
        </p:txBody>
      </p:sp>
      <p:sp>
        <p:nvSpPr>
          <p:cNvPr id="44" name="Text 36"/>
          <p:cNvSpPr/>
          <p:nvPr/>
        </p:nvSpPr>
        <p:spPr>
          <a:xfrm>
            <a:off x="6345936"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Release to real users</a:t>
            </a:r>
            <a:endParaRPr lang="en-US" sz="1000" dirty="0"/>
          </a:p>
        </p:txBody>
      </p:sp>
      <p:sp>
        <p:nvSpPr>
          <p:cNvPr id="45" name="Text 37"/>
          <p:cNvSpPr/>
          <p:nvPr/>
        </p:nvSpPr>
        <p:spPr>
          <a:xfrm>
            <a:off x="7397496" y="1929384"/>
            <a:ext cx="347472" cy="310896"/>
          </a:xfrm>
          <a:prstGeom prst="rect">
            <a:avLst/>
          </a:prstGeom>
          <a:noFill/>
          <a:ln/>
        </p:spPr>
        <p:txBody>
          <a:bodyPr wrap="square" lIns="0" tIns="0" rIns="0" bIns="0" rtlCol="0" anchor="ctr"/>
          <a:lstStyle/>
          <a:p>
            <a:pPr algn="ctr" indent="0" marL="0">
              <a:buNone/>
            </a:pPr>
            <a:r>
              <a:rPr lang="en-US" sz="1600" b="1" dirty="0">
                <a:solidFill>
                  <a:srgbClr val="00A896"/>
                </a:solidFill>
                <a:latin typeface="Calibri" pitchFamily="34" charset="0"/>
                <a:ea typeface="Calibri" pitchFamily="34" charset="-122"/>
                <a:cs typeface="Calibri" pitchFamily="34" charset="-120"/>
              </a:rPr>
              <a:t>→</a:t>
            </a:r>
            <a:endParaRPr lang="en-US" sz="1600" dirty="0"/>
          </a:p>
        </p:txBody>
      </p:sp>
      <p:sp>
        <p:nvSpPr>
          <p:cNvPr id="46" name="Shape 38"/>
          <p:cNvSpPr/>
          <p:nvPr/>
        </p:nvSpPr>
        <p:spPr>
          <a:xfrm>
            <a:off x="7868412" y="1783080"/>
            <a:ext cx="603504" cy="603504"/>
          </a:xfrm>
          <a:prstGeom prst="ellipse">
            <a:avLst/>
          </a:prstGeom>
          <a:solidFill>
            <a:srgbClr val="028090"/>
          </a:solidFill>
          <a:ln/>
        </p:spPr>
      </p:sp>
      <p:pic>
        <p:nvPicPr>
          <p:cNvPr id="47" name="Image 6" descr="preencoded.png">    </p:cNvPr>
          <p:cNvPicPr>
            <a:picLocks noChangeAspect="1"/>
          </p:cNvPicPr>
          <p:nvPr/>
        </p:nvPicPr>
        <p:blipFill>
          <a:blip r:embed="rId7"/>
          <a:stretch>
            <a:fillRect/>
          </a:stretch>
        </p:blipFill>
        <p:spPr>
          <a:xfrm>
            <a:off x="8025323" y="1939991"/>
            <a:ext cx="289682" cy="289682"/>
          </a:xfrm>
          <a:prstGeom prst="rect">
            <a:avLst/>
          </a:prstGeom>
        </p:spPr>
      </p:pic>
      <p:sp>
        <p:nvSpPr>
          <p:cNvPr id="48" name="Shape 39"/>
          <p:cNvSpPr/>
          <p:nvPr/>
        </p:nvSpPr>
        <p:spPr>
          <a:xfrm>
            <a:off x="8270748" y="1728216"/>
            <a:ext cx="237744" cy="237744"/>
          </a:xfrm>
          <a:prstGeom prst="ellipse">
            <a:avLst/>
          </a:prstGeom>
          <a:solidFill>
            <a:srgbClr val="02C39A"/>
          </a:solidFill>
          <a:ln/>
        </p:spPr>
      </p:sp>
      <p:sp>
        <p:nvSpPr>
          <p:cNvPr id="49" name="Text 40"/>
          <p:cNvSpPr/>
          <p:nvPr/>
        </p:nvSpPr>
        <p:spPr>
          <a:xfrm>
            <a:off x="8270748" y="1728216"/>
            <a:ext cx="237744" cy="237744"/>
          </a:xfrm>
          <a:prstGeom prst="rect">
            <a:avLst/>
          </a:prstGeom>
          <a:noFill/>
          <a:ln/>
        </p:spPr>
        <p:txBody>
          <a:bodyPr wrap="square" lIns="0" tIns="0" rIns="0" bIns="0" rtlCol="0" anchor="ctr"/>
          <a:lstStyle/>
          <a:p>
            <a:pPr algn="ctr" indent="0" marL="0">
              <a:buNone/>
            </a:pPr>
            <a:r>
              <a:rPr lang="en-US" sz="1100" b="1" dirty="0">
                <a:solidFill>
                  <a:srgbClr val="05343C"/>
                </a:solidFill>
                <a:latin typeface="Calibri" pitchFamily="34" charset="0"/>
                <a:ea typeface="Calibri" pitchFamily="34" charset="-122"/>
                <a:cs typeface="Calibri" pitchFamily="34" charset="-120"/>
              </a:rPr>
              <a:t>7</a:t>
            </a:r>
            <a:endParaRPr lang="en-US" sz="1100" dirty="0"/>
          </a:p>
        </p:txBody>
      </p:sp>
      <p:sp>
        <p:nvSpPr>
          <p:cNvPr id="50" name="Text 41"/>
          <p:cNvSpPr/>
          <p:nvPr/>
        </p:nvSpPr>
        <p:spPr>
          <a:xfrm>
            <a:off x="7516368" y="2496312"/>
            <a:ext cx="1307592" cy="274320"/>
          </a:xfrm>
          <a:prstGeom prst="rect">
            <a:avLst/>
          </a:prstGeom>
          <a:noFill/>
          <a:ln/>
        </p:spPr>
        <p:txBody>
          <a:bodyPr wrap="square" lIns="0" tIns="0" rIns="0" bIns="0" rtlCol="0" anchor="ctr"/>
          <a:lstStyle/>
          <a:p>
            <a:pPr algn="ctr" indent="0" marL="0">
              <a:buNone/>
            </a:pPr>
            <a:r>
              <a:rPr lang="en-US" sz="1250" b="1" dirty="0">
                <a:solidFill>
                  <a:srgbClr val="1E2E30"/>
                </a:solidFill>
                <a:latin typeface="Calibri" pitchFamily="34" charset="0"/>
                <a:ea typeface="Calibri" pitchFamily="34" charset="-122"/>
                <a:cs typeface="Calibri" pitchFamily="34" charset="-120"/>
              </a:rPr>
              <a:t>Maintenance</a:t>
            </a:r>
            <a:endParaRPr lang="en-US" sz="1250" dirty="0"/>
          </a:p>
        </p:txBody>
      </p:sp>
      <p:sp>
        <p:nvSpPr>
          <p:cNvPr id="51" name="Text 42"/>
          <p:cNvSpPr/>
          <p:nvPr/>
        </p:nvSpPr>
        <p:spPr>
          <a:xfrm>
            <a:off x="7543800" y="2770632"/>
            <a:ext cx="1252728" cy="548640"/>
          </a:xfrm>
          <a:prstGeom prst="rect">
            <a:avLst/>
          </a:prstGeom>
          <a:noFill/>
          <a:ln/>
        </p:spPr>
        <p:txBody>
          <a:bodyPr wrap="square" lIns="0" tIns="0" rIns="0" bIns="0" rtlCol="0" anchor="t"/>
          <a:lstStyle/>
          <a:p>
            <a:pPr algn="ctr" indent="0" marL="0">
              <a:buNone/>
            </a:pPr>
            <a:r>
              <a:rPr lang="en-US" sz="1000" dirty="0">
                <a:solidFill>
                  <a:srgbClr val="5F7377"/>
                </a:solidFill>
                <a:latin typeface="Calibri" pitchFamily="34" charset="0"/>
                <a:ea typeface="Calibri" pitchFamily="34" charset="-122"/>
                <a:cs typeface="Calibri" pitchFamily="34" charset="-120"/>
              </a:rPr>
              <a:t>Support &amp; improve</a:t>
            </a:r>
            <a:endParaRPr lang="en-US" sz="1000" dirty="0"/>
          </a:p>
        </p:txBody>
      </p:sp>
      <p:sp>
        <p:nvSpPr>
          <p:cNvPr id="52" name="Shape 43"/>
          <p:cNvSpPr/>
          <p:nvPr/>
        </p:nvSpPr>
        <p:spPr>
          <a:xfrm>
            <a:off x="1463040" y="3840480"/>
            <a:ext cx="6217920" cy="777240"/>
          </a:xfrm>
          <a:prstGeom prst="roundRect">
            <a:avLst>
              <a:gd name="adj" fmla="val 10588"/>
            </a:avLst>
          </a:prstGeom>
          <a:solidFill>
            <a:srgbClr val="E9F5F5"/>
          </a:solidFill>
          <a:ln/>
          <a:effectLst>
            <a:outerShdw sx="100000" sy="100000" kx="0" ky="0" algn="bl" rotWithShape="0" blurRad="88900" dist="25400" dir="2700000">
              <a:srgbClr val="000000">
                <a:alpha val="14000"/>
              </a:srgbClr>
            </a:outerShdw>
          </a:effectLst>
        </p:spPr>
      </p:sp>
      <p:sp>
        <p:nvSpPr>
          <p:cNvPr id="53" name="Shape 44"/>
          <p:cNvSpPr/>
          <p:nvPr/>
        </p:nvSpPr>
        <p:spPr>
          <a:xfrm>
            <a:off x="1691640" y="3995928"/>
            <a:ext cx="457200" cy="457200"/>
          </a:xfrm>
          <a:prstGeom prst="ellipse">
            <a:avLst/>
          </a:prstGeom>
          <a:solidFill>
            <a:srgbClr val="FFFFFF"/>
          </a:solidFill>
          <a:ln/>
        </p:spPr>
      </p:sp>
      <p:pic>
        <p:nvPicPr>
          <p:cNvPr id="54" name="Image 7" descr="preencoded.png">    </p:cNvPr>
          <p:cNvPicPr>
            <a:picLocks noChangeAspect="1"/>
          </p:cNvPicPr>
          <p:nvPr/>
        </p:nvPicPr>
        <p:blipFill>
          <a:blip r:embed="rId8"/>
          <a:stretch>
            <a:fillRect/>
          </a:stretch>
        </p:blipFill>
        <p:spPr>
          <a:xfrm>
            <a:off x="1810512" y="4114800"/>
            <a:ext cx="219456" cy="219456"/>
          </a:xfrm>
          <a:prstGeom prst="rect">
            <a:avLst/>
          </a:prstGeom>
        </p:spPr>
      </p:pic>
      <p:sp>
        <p:nvSpPr>
          <p:cNvPr id="55" name="Text 45"/>
          <p:cNvSpPr/>
          <p:nvPr/>
        </p:nvSpPr>
        <p:spPr>
          <a:xfrm>
            <a:off x="2286000" y="3931920"/>
            <a:ext cx="5257800" cy="594360"/>
          </a:xfrm>
          <a:prstGeom prst="rect">
            <a:avLst/>
          </a:prstGeom>
          <a:noFill/>
          <a:ln/>
        </p:spPr>
        <p:txBody>
          <a:bodyPr wrap="square" lIns="0" tIns="0" rIns="0" bIns="0" rtlCol="0" anchor="ctr"/>
          <a:lstStyle/>
          <a:p>
            <a:pPr indent="0" marL="0">
              <a:buNone/>
            </a:pPr>
            <a:r>
              <a:rPr lang="en-US" sz="1250" b="1" dirty="0">
                <a:solidFill>
                  <a:srgbClr val="1E2E30"/>
                </a:solidFill>
                <a:latin typeface="Calibri" pitchFamily="34" charset="0"/>
                <a:ea typeface="Calibri" pitchFamily="34" charset="-122"/>
                <a:cs typeface="Calibri" pitchFamily="34" charset="-120"/>
              </a:rPr>
              <a:t>It's a cycle, not a straight line. </a:t>
            </a:r>
            <a:pPr indent="0" marL="0">
              <a:buNone/>
            </a:pPr>
            <a:r>
              <a:rPr lang="en-US" sz="1250" dirty="0">
                <a:solidFill>
                  <a:srgbClr val="1E2E30"/>
                </a:solidFill>
                <a:latin typeface="Calibri" pitchFamily="34" charset="0"/>
                <a:ea typeface="Calibri" pitchFamily="34" charset="-122"/>
                <a:cs typeface="Calibri" pitchFamily="34" charset="-120"/>
              </a:rPr>
              <a:t>After maintenance, new ideas feed back into planning — and the loop begins again.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1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Planning</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Decide WHAT to build and whether it's worth building.</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Define the problem the software will solve</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Set the goals, scope, budget and timeline</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Check feasibility — do we have the people, money and technology?</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Identify risks early (what could go wrong?)</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Project managers, business leaders, senior engineers, clients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Project plan, cost estimate, feasibility report</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A bank decides to build a mobile app so customers can check balances without visiting a branch.</a:t>
            </a:r>
            <a:endParaRPr lang="en-US" sz="1150" dirty="0"/>
          </a:p>
        </p:txBody>
      </p:sp>
      <p:sp>
        <p:nvSpPr>
          <p:cNvPr id="18" name="Shape 14"/>
          <p:cNvSpPr/>
          <p:nvPr/>
        </p:nvSpPr>
        <p:spPr>
          <a:xfrm>
            <a:off x="3671316" y="4873752"/>
            <a:ext cx="100584" cy="100584"/>
          </a:xfrm>
          <a:prstGeom prst="ellipse">
            <a:avLst/>
          </a:prstGeom>
          <a:solidFill>
            <a:srgbClr val="028090"/>
          </a:solidFill>
          <a:ln/>
        </p:spPr>
      </p:sp>
      <p:sp>
        <p:nvSpPr>
          <p:cNvPr id="19" name="Shape 15"/>
          <p:cNvSpPr/>
          <p:nvPr/>
        </p:nvSpPr>
        <p:spPr>
          <a:xfrm>
            <a:off x="3954780" y="4873752"/>
            <a:ext cx="100584" cy="100584"/>
          </a:xfrm>
          <a:prstGeom prst="ellipse">
            <a:avLst/>
          </a:prstGeom>
          <a:solidFill>
            <a:srgbClr val="D5E4E6"/>
          </a:solidFill>
          <a:ln/>
        </p:spPr>
      </p:sp>
      <p:sp>
        <p:nvSpPr>
          <p:cNvPr id="20" name="Shape 16"/>
          <p:cNvSpPr/>
          <p:nvPr/>
        </p:nvSpPr>
        <p:spPr>
          <a:xfrm>
            <a:off x="4238244" y="4873752"/>
            <a:ext cx="100584" cy="100584"/>
          </a:xfrm>
          <a:prstGeom prst="ellipse">
            <a:avLst/>
          </a:prstGeom>
          <a:solidFill>
            <a:srgbClr val="D5E4E6"/>
          </a:solidFill>
          <a:ln/>
        </p:spPr>
      </p:sp>
      <p:sp>
        <p:nvSpPr>
          <p:cNvPr id="21" name="Shape 17"/>
          <p:cNvSpPr/>
          <p:nvPr/>
        </p:nvSpPr>
        <p:spPr>
          <a:xfrm>
            <a:off x="4521708" y="4873752"/>
            <a:ext cx="100584" cy="100584"/>
          </a:xfrm>
          <a:prstGeom prst="ellipse">
            <a:avLst/>
          </a:prstGeom>
          <a:solidFill>
            <a:srgbClr val="D5E4E6"/>
          </a:solidFill>
          <a:ln/>
        </p:spPr>
      </p:sp>
      <p:sp>
        <p:nvSpPr>
          <p:cNvPr id="22" name="Shape 18"/>
          <p:cNvSpPr/>
          <p:nvPr/>
        </p:nvSpPr>
        <p:spPr>
          <a:xfrm>
            <a:off x="4805172" y="4873752"/>
            <a:ext cx="100584" cy="100584"/>
          </a:xfrm>
          <a:prstGeom prst="ellipse">
            <a:avLst/>
          </a:prstGeom>
          <a:solidFill>
            <a:srgbClr val="D5E4E6"/>
          </a:solidFill>
          <a:ln/>
        </p:spPr>
      </p:sp>
      <p:sp>
        <p:nvSpPr>
          <p:cNvPr id="23" name="Shape 19"/>
          <p:cNvSpPr/>
          <p:nvPr/>
        </p:nvSpPr>
        <p:spPr>
          <a:xfrm>
            <a:off x="5088636" y="4873752"/>
            <a:ext cx="100584" cy="100584"/>
          </a:xfrm>
          <a:prstGeom prst="ellipse">
            <a:avLst/>
          </a:prstGeom>
          <a:solidFill>
            <a:srgbClr val="D5E4E6"/>
          </a:solidFill>
          <a:ln/>
        </p:spPr>
      </p:sp>
      <p:sp>
        <p:nvSpPr>
          <p:cNvPr id="24" name="Shape 20"/>
          <p:cNvSpPr/>
          <p:nvPr/>
        </p:nvSpPr>
        <p:spPr>
          <a:xfrm>
            <a:off x="5372100" y="4873752"/>
            <a:ext cx="100584" cy="100584"/>
          </a:xfrm>
          <a:prstGeom prst="ellipse">
            <a:avLst/>
          </a:prstGeom>
          <a:solidFill>
            <a:srgbClr val="D5E4E6"/>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2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Requirements Analysis</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Understand exactly what users and the business need.</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Interview users, clients and stakeholders</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Write down functional needs (what it must do)</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Write down non-functional needs (speed, security, capacity)</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Get formal sign-off so everyone agrees before building</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Business analysts, product owners, clients, end users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SRS — Software Requirement Specification document</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"Users must log in with a PIN or fingerprint, and pages must load in under 2 seconds."</a:t>
            </a:r>
            <a:endParaRPr lang="en-US" sz="1150" dirty="0"/>
          </a:p>
        </p:txBody>
      </p:sp>
      <p:sp>
        <p:nvSpPr>
          <p:cNvPr id="18" name="Shape 14"/>
          <p:cNvSpPr/>
          <p:nvPr/>
        </p:nvSpPr>
        <p:spPr>
          <a:xfrm>
            <a:off x="3671316" y="4873752"/>
            <a:ext cx="100584" cy="100584"/>
          </a:xfrm>
          <a:prstGeom prst="ellipse">
            <a:avLst/>
          </a:prstGeom>
          <a:solidFill>
            <a:srgbClr val="D5E4E6"/>
          </a:solidFill>
          <a:ln/>
        </p:spPr>
      </p:sp>
      <p:sp>
        <p:nvSpPr>
          <p:cNvPr id="19" name="Shape 15"/>
          <p:cNvSpPr/>
          <p:nvPr/>
        </p:nvSpPr>
        <p:spPr>
          <a:xfrm>
            <a:off x="3954780" y="4873752"/>
            <a:ext cx="100584" cy="100584"/>
          </a:xfrm>
          <a:prstGeom prst="ellipse">
            <a:avLst/>
          </a:prstGeom>
          <a:solidFill>
            <a:srgbClr val="028090"/>
          </a:solidFill>
          <a:ln/>
        </p:spPr>
      </p:sp>
      <p:sp>
        <p:nvSpPr>
          <p:cNvPr id="20" name="Shape 16"/>
          <p:cNvSpPr/>
          <p:nvPr/>
        </p:nvSpPr>
        <p:spPr>
          <a:xfrm>
            <a:off x="4238244" y="4873752"/>
            <a:ext cx="100584" cy="100584"/>
          </a:xfrm>
          <a:prstGeom prst="ellipse">
            <a:avLst/>
          </a:prstGeom>
          <a:solidFill>
            <a:srgbClr val="D5E4E6"/>
          </a:solidFill>
          <a:ln/>
        </p:spPr>
      </p:sp>
      <p:sp>
        <p:nvSpPr>
          <p:cNvPr id="21" name="Shape 17"/>
          <p:cNvSpPr/>
          <p:nvPr/>
        </p:nvSpPr>
        <p:spPr>
          <a:xfrm>
            <a:off x="4521708" y="4873752"/>
            <a:ext cx="100584" cy="100584"/>
          </a:xfrm>
          <a:prstGeom prst="ellipse">
            <a:avLst/>
          </a:prstGeom>
          <a:solidFill>
            <a:srgbClr val="D5E4E6"/>
          </a:solidFill>
          <a:ln/>
        </p:spPr>
      </p:sp>
      <p:sp>
        <p:nvSpPr>
          <p:cNvPr id="22" name="Shape 18"/>
          <p:cNvSpPr/>
          <p:nvPr/>
        </p:nvSpPr>
        <p:spPr>
          <a:xfrm>
            <a:off x="4805172" y="4873752"/>
            <a:ext cx="100584" cy="100584"/>
          </a:xfrm>
          <a:prstGeom prst="ellipse">
            <a:avLst/>
          </a:prstGeom>
          <a:solidFill>
            <a:srgbClr val="D5E4E6"/>
          </a:solidFill>
          <a:ln/>
        </p:spPr>
      </p:sp>
      <p:sp>
        <p:nvSpPr>
          <p:cNvPr id="23" name="Shape 19"/>
          <p:cNvSpPr/>
          <p:nvPr/>
        </p:nvSpPr>
        <p:spPr>
          <a:xfrm>
            <a:off x="5088636" y="4873752"/>
            <a:ext cx="100584" cy="100584"/>
          </a:xfrm>
          <a:prstGeom prst="ellipse">
            <a:avLst/>
          </a:prstGeom>
          <a:solidFill>
            <a:srgbClr val="D5E4E6"/>
          </a:solidFill>
          <a:ln/>
        </p:spPr>
      </p:sp>
      <p:sp>
        <p:nvSpPr>
          <p:cNvPr id="24" name="Shape 20"/>
          <p:cNvSpPr/>
          <p:nvPr/>
        </p:nvSpPr>
        <p:spPr>
          <a:xfrm>
            <a:off x="5372100" y="4873752"/>
            <a:ext cx="100584" cy="100584"/>
          </a:xfrm>
          <a:prstGeom prst="ellipse">
            <a:avLst/>
          </a:prstGeom>
          <a:solidFill>
            <a:srgbClr val="D5E4E6"/>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3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Design</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Create the blueprint before writing a single line of code.</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Design the architecture — how the parts fit together</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Sketch the screens users will see (UI/UX design)</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Plan the database — what data is stored and how</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Choose the technology stack (languages, tools, servers)</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Software architects, UI/UX designers, senior developers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Design documents, wireframes, architecture diagrams</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The team sketches the login screen and decides the app will talk to a secure cloud server.</a:t>
            </a:r>
            <a:endParaRPr lang="en-US" sz="1150" dirty="0"/>
          </a:p>
        </p:txBody>
      </p:sp>
      <p:sp>
        <p:nvSpPr>
          <p:cNvPr id="18" name="Shape 14"/>
          <p:cNvSpPr/>
          <p:nvPr/>
        </p:nvSpPr>
        <p:spPr>
          <a:xfrm>
            <a:off x="3671316" y="4873752"/>
            <a:ext cx="100584" cy="100584"/>
          </a:xfrm>
          <a:prstGeom prst="ellipse">
            <a:avLst/>
          </a:prstGeom>
          <a:solidFill>
            <a:srgbClr val="D5E4E6"/>
          </a:solidFill>
          <a:ln/>
        </p:spPr>
      </p:sp>
      <p:sp>
        <p:nvSpPr>
          <p:cNvPr id="19" name="Shape 15"/>
          <p:cNvSpPr/>
          <p:nvPr/>
        </p:nvSpPr>
        <p:spPr>
          <a:xfrm>
            <a:off x="3954780" y="4873752"/>
            <a:ext cx="100584" cy="100584"/>
          </a:xfrm>
          <a:prstGeom prst="ellipse">
            <a:avLst/>
          </a:prstGeom>
          <a:solidFill>
            <a:srgbClr val="D5E4E6"/>
          </a:solidFill>
          <a:ln/>
        </p:spPr>
      </p:sp>
      <p:sp>
        <p:nvSpPr>
          <p:cNvPr id="20" name="Shape 16"/>
          <p:cNvSpPr/>
          <p:nvPr/>
        </p:nvSpPr>
        <p:spPr>
          <a:xfrm>
            <a:off x="4238244" y="4873752"/>
            <a:ext cx="100584" cy="100584"/>
          </a:xfrm>
          <a:prstGeom prst="ellipse">
            <a:avLst/>
          </a:prstGeom>
          <a:solidFill>
            <a:srgbClr val="028090"/>
          </a:solidFill>
          <a:ln/>
        </p:spPr>
      </p:sp>
      <p:sp>
        <p:nvSpPr>
          <p:cNvPr id="21" name="Shape 17"/>
          <p:cNvSpPr/>
          <p:nvPr/>
        </p:nvSpPr>
        <p:spPr>
          <a:xfrm>
            <a:off x="4521708" y="4873752"/>
            <a:ext cx="100584" cy="100584"/>
          </a:xfrm>
          <a:prstGeom prst="ellipse">
            <a:avLst/>
          </a:prstGeom>
          <a:solidFill>
            <a:srgbClr val="D5E4E6"/>
          </a:solidFill>
          <a:ln/>
        </p:spPr>
      </p:sp>
      <p:sp>
        <p:nvSpPr>
          <p:cNvPr id="22" name="Shape 18"/>
          <p:cNvSpPr/>
          <p:nvPr/>
        </p:nvSpPr>
        <p:spPr>
          <a:xfrm>
            <a:off x="4805172" y="4873752"/>
            <a:ext cx="100584" cy="100584"/>
          </a:xfrm>
          <a:prstGeom prst="ellipse">
            <a:avLst/>
          </a:prstGeom>
          <a:solidFill>
            <a:srgbClr val="D5E4E6"/>
          </a:solidFill>
          <a:ln/>
        </p:spPr>
      </p:sp>
      <p:sp>
        <p:nvSpPr>
          <p:cNvPr id="23" name="Shape 19"/>
          <p:cNvSpPr/>
          <p:nvPr/>
        </p:nvSpPr>
        <p:spPr>
          <a:xfrm>
            <a:off x="5088636" y="4873752"/>
            <a:ext cx="100584" cy="100584"/>
          </a:xfrm>
          <a:prstGeom prst="ellipse">
            <a:avLst/>
          </a:prstGeom>
          <a:solidFill>
            <a:srgbClr val="D5E4E6"/>
          </a:solidFill>
          <a:ln/>
        </p:spPr>
      </p:sp>
      <p:sp>
        <p:nvSpPr>
          <p:cNvPr id="24" name="Shape 20"/>
          <p:cNvSpPr/>
          <p:nvPr/>
        </p:nvSpPr>
        <p:spPr>
          <a:xfrm>
            <a:off x="5372100" y="4873752"/>
            <a:ext cx="100584" cy="100584"/>
          </a:xfrm>
          <a:prstGeom prst="ellipse">
            <a:avLst/>
          </a:prstGeom>
          <a:solidFill>
            <a:srgbClr val="D5E4E6"/>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4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Development</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The blueprint becomes real, working code.</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Developers write code following the design documents</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Work is split into small tasks across the team</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Code is stored and shared using version control (e.g. Git)</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Peers review each other's code to keep quality high</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Front-end, back-end and full-stack developers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Working source code and developer documentation</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One developer builds the login screen while another writes the code that checks the PIN.</a:t>
            </a:r>
            <a:endParaRPr lang="en-US" sz="1150" dirty="0"/>
          </a:p>
        </p:txBody>
      </p:sp>
      <p:sp>
        <p:nvSpPr>
          <p:cNvPr id="18" name="Shape 14"/>
          <p:cNvSpPr/>
          <p:nvPr/>
        </p:nvSpPr>
        <p:spPr>
          <a:xfrm>
            <a:off x="3671316" y="4873752"/>
            <a:ext cx="100584" cy="100584"/>
          </a:xfrm>
          <a:prstGeom prst="ellipse">
            <a:avLst/>
          </a:prstGeom>
          <a:solidFill>
            <a:srgbClr val="D5E4E6"/>
          </a:solidFill>
          <a:ln/>
        </p:spPr>
      </p:sp>
      <p:sp>
        <p:nvSpPr>
          <p:cNvPr id="19" name="Shape 15"/>
          <p:cNvSpPr/>
          <p:nvPr/>
        </p:nvSpPr>
        <p:spPr>
          <a:xfrm>
            <a:off x="3954780" y="4873752"/>
            <a:ext cx="100584" cy="100584"/>
          </a:xfrm>
          <a:prstGeom prst="ellipse">
            <a:avLst/>
          </a:prstGeom>
          <a:solidFill>
            <a:srgbClr val="D5E4E6"/>
          </a:solidFill>
          <a:ln/>
        </p:spPr>
      </p:sp>
      <p:sp>
        <p:nvSpPr>
          <p:cNvPr id="20" name="Shape 16"/>
          <p:cNvSpPr/>
          <p:nvPr/>
        </p:nvSpPr>
        <p:spPr>
          <a:xfrm>
            <a:off x="4238244" y="4873752"/>
            <a:ext cx="100584" cy="100584"/>
          </a:xfrm>
          <a:prstGeom prst="ellipse">
            <a:avLst/>
          </a:prstGeom>
          <a:solidFill>
            <a:srgbClr val="D5E4E6"/>
          </a:solidFill>
          <a:ln/>
        </p:spPr>
      </p:sp>
      <p:sp>
        <p:nvSpPr>
          <p:cNvPr id="21" name="Shape 17"/>
          <p:cNvSpPr/>
          <p:nvPr/>
        </p:nvSpPr>
        <p:spPr>
          <a:xfrm>
            <a:off x="4521708" y="4873752"/>
            <a:ext cx="100584" cy="100584"/>
          </a:xfrm>
          <a:prstGeom prst="ellipse">
            <a:avLst/>
          </a:prstGeom>
          <a:solidFill>
            <a:srgbClr val="028090"/>
          </a:solidFill>
          <a:ln/>
        </p:spPr>
      </p:sp>
      <p:sp>
        <p:nvSpPr>
          <p:cNvPr id="22" name="Shape 18"/>
          <p:cNvSpPr/>
          <p:nvPr/>
        </p:nvSpPr>
        <p:spPr>
          <a:xfrm>
            <a:off x="4805172" y="4873752"/>
            <a:ext cx="100584" cy="100584"/>
          </a:xfrm>
          <a:prstGeom prst="ellipse">
            <a:avLst/>
          </a:prstGeom>
          <a:solidFill>
            <a:srgbClr val="D5E4E6"/>
          </a:solidFill>
          <a:ln/>
        </p:spPr>
      </p:sp>
      <p:sp>
        <p:nvSpPr>
          <p:cNvPr id="23" name="Shape 19"/>
          <p:cNvSpPr/>
          <p:nvPr/>
        </p:nvSpPr>
        <p:spPr>
          <a:xfrm>
            <a:off x="5088636" y="4873752"/>
            <a:ext cx="100584" cy="100584"/>
          </a:xfrm>
          <a:prstGeom prst="ellipse">
            <a:avLst/>
          </a:prstGeom>
          <a:solidFill>
            <a:srgbClr val="D5E4E6"/>
          </a:solidFill>
          <a:ln/>
        </p:spPr>
      </p:sp>
      <p:sp>
        <p:nvSpPr>
          <p:cNvPr id="24" name="Shape 20"/>
          <p:cNvSpPr/>
          <p:nvPr/>
        </p:nvSpPr>
        <p:spPr>
          <a:xfrm>
            <a:off x="5372100" y="4873752"/>
            <a:ext cx="100584" cy="100584"/>
          </a:xfrm>
          <a:prstGeom prst="ellipse">
            <a:avLst/>
          </a:prstGeom>
          <a:solidFill>
            <a:srgbClr val="D5E4E6"/>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5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Testing</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Hunt down bugs before your users ever meet them.</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Verify the software matches the requirements</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Run unit, integration, system and acceptance tests</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Report bugs, fix them, then re-test until stable</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Check performance and security under pressure</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QA engineers, testers, developers, sometimes real users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Test reports, bug logs, a quality-approved build</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A tester finds the app crashes when the PIN field is left empty — it's fixed before launch.</a:t>
            </a:r>
            <a:endParaRPr lang="en-US" sz="1150" dirty="0"/>
          </a:p>
        </p:txBody>
      </p:sp>
      <p:sp>
        <p:nvSpPr>
          <p:cNvPr id="18" name="Shape 14"/>
          <p:cNvSpPr/>
          <p:nvPr/>
        </p:nvSpPr>
        <p:spPr>
          <a:xfrm>
            <a:off x="3671316" y="4873752"/>
            <a:ext cx="100584" cy="100584"/>
          </a:xfrm>
          <a:prstGeom prst="ellipse">
            <a:avLst/>
          </a:prstGeom>
          <a:solidFill>
            <a:srgbClr val="D5E4E6"/>
          </a:solidFill>
          <a:ln/>
        </p:spPr>
      </p:sp>
      <p:sp>
        <p:nvSpPr>
          <p:cNvPr id="19" name="Shape 15"/>
          <p:cNvSpPr/>
          <p:nvPr/>
        </p:nvSpPr>
        <p:spPr>
          <a:xfrm>
            <a:off x="3954780" y="4873752"/>
            <a:ext cx="100584" cy="100584"/>
          </a:xfrm>
          <a:prstGeom prst="ellipse">
            <a:avLst/>
          </a:prstGeom>
          <a:solidFill>
            <a:srgbClr val="D5E4E6"/>
          </a:solidFill>
          <a:ln/>
        </p:spPr>
      </p:sp>
      <p:sp>
        <p:nvSpPr>
          <p:cNvPr id="20" name="Shape 16"/>
          <p:cNvSpPr/>
          <p:nvPr/>
        </p:nvSpPr>
        <p:spPr>
          <a:xfrm>
            <a:off x="4238244" y="4873752"/>
            <a:ext cx="100584" cy="100584"/>
          </a:xfrm>
          <a:prstGeom prst="ellipse">
            <a:avLst/>
          </a:prstGeom>
          <a:solidFill>
            <a:srgbClr val="D5E4E6"/>
          </a:solidFill>
          <a:ln/>
        </p:spPr>
      </p:sp>
      <p:sp>
        <p:nvSpPr>
          <p:cNvPr id="21" name="Shape 17"/>
          <p:cNvSpPr/>
          <p:nvPr/>
        </p:nvSpPr>
        <p:spPr>
          <a:xfrm>
            <a:off x="4521708" y="4873752"/>
            <a:ext cx="100584" cy="100584"/>
          </a:xfrm>
          <a:prstGeom prst="ellipse">
            <a:avLst/>
          </a:prstGeom>
          <a:solidFill>
            <a:srgbClr val="D5E4E6"/>
          </a:solidFill>
          <a:ln/>
        </p:spPr>
      </p:sp>
      <p:sp>
        <p:nvSpPr>
          <p:cNvPr id="22" name="Shape 18"/>
          <p:cNvSpPr/>
          <p:nvPr/>
        </p:nvSpPr>
        <p:spPr>
          <a:xfrm>
            <a:off x="4805172" y="4873752"/>
            <a:ext cx="100584" cy="100584"/>
          </a:xfrm>
          <a:prstGeom prst="ellipse">
            <a:avLst/>
          </a:prstGeom>
          <a:solidFill>
            <a:srgbClr val="028090"/>
          </a:solidFill>
          <a:ln/>
        </p:spPr>
      </p:sp>
      <p:sp>
        <p:nvSpPr>
          <p:cNvPr id="23" name="Shape 19"/>
          <p:cNvSpPr/>
          <p:nvPr/>
        </p:nvSpPr>
        <p:spPr>
          <a:xfrm>
            <a:off x="5088636" y="4873752"/>
            <a:ext cx="100584" cy="100584"/>
          </a:xfrm>
          <a:prstGeom prst="ellipse">
            <a:avLst/>
          </a:prstGeom>
          <a:solidFill>
            <a:srgbClr val="D5E4E6"/>
          </a:solidFill>
          <a:ln/>
        </p:spPr>
      </p:sp>
      <p:sp>
        <p:nvSpPr>
          <p:cNvPr id="24" name="Shape 20"/>
          <p:cNvSpPr/>
          <p:nvPr/>
        </p:nvSpPr>
        <p:spPr>
          <a:xfrm>
            <a:off x="5372100" y="4873752"/>
            <a:ext cx="100584" cy="100584"/>
          </a:xfrm>
          <a:prstGeom prst="ellipse">
            <a:avLst/>
          </a:prstGeom>
          <a:solidFill>
            <a:srgbClr val="D5E4E6"/>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6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Deployment</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Ship it! The software goes live to real users.</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Release the software to the production environment</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Often rolled out gradually (beta → small group → everyone)</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Monitor closely for issues in the first hours and days</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Train users and hand over release notes</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DevOps engineers, release managers, support teams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The live product, release notes, user guides</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The banking app appears on the App Store — first to 5% of customers, then to all.</a:t>
            </a:r>
            <a:endParaRPr lang="en-US" sz="1150" dirty="0"/>
          </a:p>
        </p:txBody>
      </p:sp>
      <p:sp>
        <p:nvSpPr>
          <p:cNvPr id="18" name="Shape 14"/>
          <p:cNvSpPr/>
          <p:nvPr/>
        </p:nvSpPr>
        <p:spPr>
          <a:xfrm>
            <a:off x="3671316" y="4873752"/>
            <a:ext cx="100584" cy="100584"/>
          </a:xfrm>
          <a:prstGeom prst="ellipse">
            <a:avLst/>
          </a:prstGeom>
          <a:solidFill>
            <a:srgbClr val="D5E4E6"/>
          </a:solidFill>
          <a:ln/>
        </p:spPr>
      </p:sp>
      <p:sp>
        <p:nvSpPr>
          <p:cNvPr id="19" name="Shape 15"/>
          <p:cNvSpPr/>
          <p:nvPr/>
        </p:nvSpPr>
        <p:spPr>
          <a:xfrm>
            <a:off x="3954780" y="4873752"/>
            <a:ext cx="100584" cy="100584"/>
          </a:xfrm>
          <a:prstGeom prst="ellipse">
            <a:avLst/>
          </a:prstGeom>
          <a:solidFill>
            <a:srgbClr val="D5E4E6"/>
          </a:solidFill>
          <a:ln/>
        </p:spPr>
      </p:sp>
      <p:sp>
        <p:nvSpPr>
          <p:cNvPr id="20" name="Shape 16"/>
          <p:cNvSpPr/>
          <p:nvPr/>
        </p:nvSpPr>
        <p:spPr>
          <a:xfrm>
            <a:off x="4238244" y="4873752"/>
            <a:ext cx="100584" cy="100584"/>
          </a:xfrm>
          <a:prstGeom prst="ellipse">
            <a:avLst/>
          </a:prstGeom>
          <a:solidFill>
            <a:srgbClr val="D5E4E6"/>
          </a:solidFill>
          <a:ln/>
        </p:spPr>
      </p:sp>
      <p:sp>
        <p:nvSpPr>
          <p:cNvPr id="21" name="Shape 17"/>
          <p:cNvSpPr/>
          <p:nvPr/>
        </p:nvSpPr>
        <p:spPr>
          <a:xfrm>
            <a:off x="4521708" y="4873752"/>
            <a:ext cx="100584" cy="100584"/>
          </a:xfrm>
          <a:prstGeom prst="ellipse">
            <a:avLst/>
          </a:prstGeom>
          <a:solidFill>
            <a:srgbClr val="D5E4E6"/>
          </a:solidFill>
          <a:ln/>
        </p:spPr>
      </p:sp>
      <p:sp>
        <p:nvSpPr>
          <p:cNvPr id="22" name="Shape 18"/>
          <p:cNvSpPr/>
          <p:nvPr/>
        </p:nvSpPr>
        <p:spPr>
          <a:xfrm>
            <a:off x="4805172" y="4873752"/>
            <a:ext cx="100584" cy="100584"/>
          </a:xfrm>
          <a:prstGeom prst="ellipse">
            <a:avLst/>
          </a:prstGeom>
          <a:solidFill>
            <a:srgbClr val="D5E4E6"/>
          </a:solidFill>
          <a:ln/>
        </p:spPr>
      </p:sp>
      <p:sp>
        <p:nvSpPr>
          <p:cNvPr id="23" name="Shape 19"/>
          <p:cNvSpPr/>
          <p:nvPr/>
        </p:nvSpPr>
        <p:spPr>
          <a:xfrm>
            <a:off x="5088636" y="4873752"/>
            <a:ext cx="100584" cy="100584"/>
          </a:xfrm>
          <a:prstGeom prst="ellipse">
            <a:avLst/>
          </a:prstGeom>
          <a:solidFill>
            <a:srgbClr val="028090"/>
          </a:solidFill>
          <a:ln/>
        </p:spPr>
      </p:sp>
      <p:sp>
        <p:nvSpPr>
          <p:cNvPr id="24" name="Shape 20"/>
          <p:cNvSpPr/>
          <p:nvPr/>
        </p:nvSpPr>
        <p:spPr>
          <a:xfrm>
            <a:off x="5372100" y="4873752"/>
            <a:ext cx="100584" cy="100584"/>
          </a:xfrm>
          <a:prstGeom prst="ellipse">
            <a:avLst/>
          </a:prstGeom>
          <a:solidFill>
            <a:srgbClr val="D5E4E6"/>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628376" y="555224"/>
            <a:ext cx="316017" cy="316017"/>
          </a:xfrm>
          <a:prstGeom prst="rect">
            <a:avLst/>
          </a:prstGeom>
        </p:spPr>
      </p:pic>
      <p:sp>
        <p:nvSpPr>
          <p:cNvPr id="4" name="Text 1"/>
          <p:cNvSpPr/>
          <p:nvPr/>
        </p:nvSpPr>
        <p:spPr>
          <a:xfrm>
            <a:off x="1298448" y="365760"/>
            <a:ext cx="7315200" cy="256032"/>
          </a:xfrm>
          <a:prstGeom prst="rect">
            <a:avLst/>
          </a:prstGeom>
          <a:noFill/>
          <a:ln/>
        </p:spPr>
        <p:txBody>
          <a:bodyPr wrap="square" lIns="0" tIns="0" rIns="0" bIns="0" rtlCol="0" anchor="ctr"/>
          <a:lstStyle/>
          <a:p>
            <a:pPr indent="0" marL="0">
              <a:buNone/>
            </a:pPr>
            <a:r>
              <a:rPr lang="en-US" sz="1150" b="1" spc="300" kern="0" dirty="0">
                <a:solidFill>
                  <a:srgbClr val="00A896"/>
                </a:solidFill>
                <a:latin typeface="Calibri" pitchFamily="34" charset="0"/>
                <a:ea typeface="Calibri" pitchFamily="34" charset="-122"/>
                <a:cs typeface="Calibri" pitchFamily="34" charset="-120"/>
              </a:rPr>
              <a:t>PHASE 7 OF 7</a:t>
            </a:r>
            <a:endParaRPr lang="en-US" sz="1150" dirty="0"/>
          </a:p>
        </p:txBody>
      </p:sp>
      <p:sp>
        <p:nvSpPr>
          <p:cNvPr id="5" name="Text 2"/>
          <p:cNvSpPr/>
          <p:nvPr/>
        </p:nvSpPr>
        <p:spPr>
          <a:xfrm>
            <a:off x="1298448" y="585216"/>
            <a:ext cx="7315200" cy="502920"/>
          </a:xfrm>
          <a:prstGeom prst="rect">
            <a:avLst/>
          </a:prstGeom>
          <a:noFill/>
          <a:ln/>
        </p:spPr>
        <p:txBody>
          <a:bodyPr wrap="square" lIns="0" tIns="0" rIns="0" bIns="0" rtlCol="0" anchor="ctr"/>
          <a:lstStyle/>
          <a:p>
            <a:pPr indent="0" marL="0">
              <a:buNone/>
            </a:pPr>
            <a:r>
              <a:rPr lang="en-US" sz="3000" b="1" dirty="0">
                <a:solidFill>
                  <a:srgbClr val="1E2E30"/>
                </a:solidFill>
                <a:latin typeface="Cambria" pitchFamily="34" charset="0"/>
                <a:ea typeface="Cambria" pitchFamily="34" charset="-122"/>
                <a:cs typeface="Cambria" pitchFamily="34" charset="-120"/>
              </a:rPr>
              <a:t>Maintenance</a:t>
            </a:r>
            <a:endParaRPr lang="en-US" sz="3000" dirty="0"/>
          </a:p>
        </p:txBody>
      </p:sp>
      <p:sp>
        <p:nvSpPr>
          <p:cNvPr id="6" name="Text 3"/>
          <p:cNvSpPr/>
          <p:nvPr/>
        </p:nvSpPr>
        <p:spPr>
          <a:xfrm>
            <a:off x="457200" y="1170432"/>
            <a:ext cx="8229600" cy="310896"/>
          </a:xfrm>
          <a:prstGeom prst="rect">
            <a:avLst/>
          </a:prstGeom>
          <a:noFill/>
          <a:ln/>
        </p:spPr>
        <p:txBody>
          <a:bodyPr wrap="square" lIns="0" tIns="0" rIns="0" bIns="0" rtlCol="0" anchor="ctr"/>
          <a:lstStyle/>
          <a:p>
            <a:pPr indent="0" marL="0">
              <a:buNone/>
            </a:pPr>
            <a:r>
              <a:rPr lang="en-US" sz="1350" i="1" dirty="0">
                <a:solidFill>
                  <a:srgbClr val="5F7377"/>
                </a:solidFill>
                <a:latin typeface="Calibri" pitchFamily="34" charset="0"/>
                <a:ea typeface="Calibri" pitchFamily="34" charset="-122"/>
                <a:cs typeface="Calibri" pitchFamily="34" charset="-120"/>
              </a:rPr>
              <a:t>Keep it healthy, secure and improving — for years.</a:t>
            </a:r>
            <a:endParaRPr lang="en-US" sz="1350" dirty="0"/>
          </a:p>
        </p:txBody>
      </p:sp>
      <p:sp>
        <p:nvSpPr>
          <p:cNvPr id="7" name="Text 4"/>
          <p:cNvSpPr/>
          <p:nvPr/>
        </p:nvSpPr>
        <p:spPr>
          <a:xfrm>
            <a:off x="457200" y="1627632"/>
            <a:ext cx="420624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HAPPENS HERE</a:t>
            </a:r>
            <a:endParaRPr lang="en-US" sz="1150" dirty="0"/>
          </a:p>
        </p:txBody>
      </p:sp>
      <p:sp>
        <p:nvSpPr>
          <p:cNvPr id="8" name="Text 5"/>
          <p:cNvSpPr/>
          <p:nvPr/>
        </p:nvSpPr>
        <p:spPr>
          <a:xfrm>
            <a:off x="457200" y="1920240"/>
            <a:ext cx="4251960" cy="210312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Fix bugs that users discover in the real world</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Release updates, patches and security fixes</a:t>
            </a:r>
            <a:endParaRPr lang="en-US" sz="1300" dirty="0"/>
          </a:p>
          <a:p>
            <a:pPr marL="152400" indent="-152400">
              <a:spcAft>
                <a:spcPts val="800"/>
              </a:spcAft>
              <a:buSzPct val="100000"/>
              <a:buChar char="•"/>
            </a:pPr>
            <a:r>
              <a:rPr lang="en-US" sz="1300" dirty="0">
                <a:solidFill>
                  <a:srgbClr val="1E2E30"/>
                </a:solidFill>
                <a:latin typeface="Calibri" pitchFamily="34" charset="0"/>
                <a:ea typeface="Calibri" pitchFamily="34" charset="-122"/>
                <a:cs typeface="Calibri" pitchFamily="34" charset="-120"/>
              </a:rPr>
              <a:t>Improve performance and add new features</a:t>
            </a:r>
            <a:endParaRPr lang="en-US" sz="1300" dirty="0"/>
          </a:p>
          <a:p>
            <a:pPr marL="152400" indent="-152400">
              <a:buSzPct val="100000"/>
              <a:buChar char="•"/>
            </a:pPr>
            <a:r>
              <a:rPr lang="en-US" sz="1300" dirty="0">
                <a:solidFill>
                  <a:srgbClr val="1E2E30"/>
                </a:solidFill>
                <a:latin typeface="Calibri" pitchFamily="34" charset="0"/>
                <a:ea typeface="Calibri" pitchFamily="34" charset="-122"/>
                <a:cs typeface="Calibri" pitchFamily="34" charset="-120"/>
              </a:rPr>
              <a:t>Gather feedback that feeds the next planning phase</a:t>
            </a:r>
            <a:endParaRPr lang="en-US" sz="1300" dirty="0"/>
          </a:p>
        </p:txBody>
      </p:sp>
      <p:sp>
        <p:nvSpPr>
          <p:cNvPr id="9" name="Shape 6"/>
          <p:cNvSpPr/>
          <p:nvPr/>
        </p:nvSpPr>
        <p:spPr>
          <a:xfrm>
            <a:off x="5029200" y="1627632"/>
            <a:ext cx="3657600" cy="1097280"/>
          </a:xfrm>
          <a:prstGeom prst="roundRect">
            <a:avLst>
              <a:gd name="adj" fmla="val 6667"/>
            </a:avLst>
          </a:prstGeom>
          <a:solidFill>
            <a:srgbClr val="F4FAF9"/>
          </a:solidFill>
          <a:ln/>
          <a:effectLst>
            <a:outerShdw sx="100000" sy="100000" kx="0" ky="0" algn="bl" rotWithShape="0" blurRad="88900" dist="25400" dir="2700000">
              <a:srgbClr val="000000">
                <a:alpha val="14000"/>
              </a:srgbClr>
            </a:outerShdw>
          </a:effectLst>
        </p:spPr>
      </p:sp>
      <p:sp>
        <p:nvSpPr>
          <p:cNvPr id="10" name="Text 7"/>
          <p:cNvSpPr/>
          <p:nvPr/>
        </p:nvSpPr>
        <p:spPr>
          <a:xfrm>
            <a:off x="5257800" y="1783080"/>
            <a:ext cx="3200400" cy="237744"/>
          </a:xfrm>
          <a:prstGeom prst="rect">
            <a:avLst/>
          </a:prstGeom>
          <a:noFill/>
          <a:ln/>
        </p:spPr>
        <p:txBody>
          <a:bodyPr wrap="square" lIns="0" tIns="0" rIns="0" bIns="0" rtlCol="0" anchor="ctr"/>
          <a:lstStyle/>
          <a:p>
            <a:pPr indent="0" marL="0">
              <a:buNone/>
            </a:pPr>
            <a:r>
              <a:rPr lang="en-US" sz="1050" b="1" spc="200" kern="0" dirty="0">
                <a:solidFill>
                  <a:srgbClr val="00A896"/>
                </a:solidFill>
                <a:latin typeface="Calibri" pitchFamily="34" charset="0"/>
                <a:ea typeface="Calibri" pitchFamily="34" charset="-122"/>
                <a:cs typeface="Calibri" pitchFamily="34" charset="-120"/>
              </a:rPr>
              <a:t>WHO'S INVOLVED</a:t>
            </a:r>
            <a:endParaRPr lang="en-US" sz="1050" dirty="0"/>
          </a:p>
        </p:txBody>
      </p:sp>
      <p:sp>
        <p:nvSpPr>
          <p:cNvPr id="11" name="Text 8"/>
          <p:cNvSpPr/>
          <p:nvPr/>
        </p:nvSpPr>
        <p:spPr>
          <a:xfrm>
            <a:off x="5257800" y="2029968"/>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Support engineers, developers, product managers</a:t>
            </a:r>
            <a:endParaRPr lang="en-US" sz="1250" dirty="0"/>
          </a:p>
        </p:txBody>
      </p:sp>
      <p:sp>
        <p:nvSpPr>
          <p:cNvPr id="12" name="Shape 9"/>
          <p:cNvSpPr/>
          <p:nvPr/>
        </p:nvSpPr>
        <p:spPr>
          <a:xfrm>
            <a:off x="5029200" y="2889504"/>
            <a:ext cx="3657600" cy="1097280"/>
          </a:xfrm>
          <a:prstGeom prst="roundRect">
            <a:avLst>
              <a:gd name="adj" fmla="val 6667"/>
            </a:avLst>
          </a:prstGeom>
          <a:solidFill>
            <a:srgbClr val="E9F5F5"/>
          </a:solidFill>
          <a:ln/>
          <a:effectLst>
            <a:outerShdw sx="100000" sy="100000" kx="0" ky="0" algn="bl" rotWithShape="0" blurRad="88900" dist="25400" dir="2700000">
              <a:srgbClr val="000000">
                <a:alpha val="14000"/>
              </a:srgbClr>
            </a:outerShdw>
          </a:effectLst>
        </p:spPr>
      </p:sp>
      <p:sp>
        <p:nvSpPr>
          <p:cNvPr id="13" name="Text 10"/>
          <p:cNvSpPr/>
          <p:nvPr/>
        </p:nvSpPr>
        <p:spPr>
          <a:xfrm>
            <a:off x="5257800" y="3044952"/>
            <a:ext cx="3200400" cy="237744"/>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KEY DELIVERABLE</a:t>
            </a:r>
            <a:endParaRPr lang="en-US" sz="1050" dirty="0"/>
          </a:p>
        </p:txBody>
      </p:sp>
      <p:sp>
        <p:nvSpPr>
          <p:cNvPr id="14" name="Text 11"/>
          <p:cNvSpPr/>
          <p:nvPr/>
        </p:nvSpPr>
        <p:spPr>
          <a:xfrm>
            <a:off x="5257800" y="3291840"/>
            <a:ext cx="3200400" cy="594360"/>
          </a:xfrm>
          <a:prstGeom prst="rect">
            <a:avLst/>
          </a:prstGeom>
          <a:noFill/>
          <a:ln/>
        </p:spPr>
        <p:txBody>
          <a:bodyPr wrap="square" lIns="0" tIns="0" rIns="0" bIns="0" rtlCol="0" anchor="t"/>
          <a:lstStyle/>
          <a:p>
            <a:pPr indent="0" marL="0">
              <a:buNone/>
            </a:pPr>
            <a:r>
              <a:rPr lang="en-US" sz="1250" dirty="0">
                <a:solidFill>
                  <a:srgbClr val="1E2E30"/>
                </a:solidFill>
                <a:latin typeface="Calibri" pitchFamily="34" charset="0"/>
                <a:ea typeface="Calibri" pitchFamily="34" charset="-122"/>
                <a:cs typeface="Calibri" pitchFamily="34" charset="-120"/>
              </a:rPr>
              <a:t>Updates, patches, new versions of the product</a:t>
            </a:r>
            <a:endParaRPr lang="en-US" sz="1250" dirty="0"/>
          </a:p>
        </p:txBody>
      </p:sp>
      <p:sp>
        <p:nvSpPr>
          <p:cNvPr id="15" name="Shape 12"/>
          <p:cNvSpPr/>
          <p:nvPr/>
        </p:nvSpPr>
        <p:spPr>
          <a:xfrm>
            <a:off x="457200" y="4169664"/>
            <a:ext cx="8229600" cy="548640"/>
          </a:xfrm>
          <a:prstGeom prst="roundRect">
            <a:avLst>
              <a:gd name="adj" fmla="val 15000"/>
            </a:avLst>
          </a:prstGeom>
          <a:solidFill>
            <a:srgbClr val="F4FAF9"/>
          </a:solidFill>
          <a:ln w="12700">
            <a:solidFill>
              <a:srgbClr val="D5E4E6"/>
            </a:solidFill>
            <a:prstDash val="solid"/>
          </a:ln>
        </p:spPr>
      </p:sp>
      <p:pic>
        <p:nvPicPr>
          <p:cNvPr id="16" name="Image 1" descr="preencoded.png">    </p:cNvPr>
          <p:cNvPicPr>
            <a:picLocks noChangeAspect="1"/>
          </p:cNvPicPr>
          <p:nvPr/>
        </p:nvPicPr>
        <p:blipFill>
          <a:blip r:embed="rId2"/>
          <a:stretch>
            <a:fillRect/>
          </a:stretch>
        </p:blipFill>
        <p:spPr>
          <a:xfrm>
            <a:off x="658368" y="4306824"/>
            <a:ext cx="274320" cy="274320"/>
          </a:xfrm>
          <a:prstGeom prst="rect">
            <a:avLst/>
          </a:prstGeom>
        </p:spPr>
      </p:pic>
      <p:sp>
        <p:nvSpPr>
          <p:cNvPr id="17" name="Text 13"/>
          <p:cNvSpPr/>
          <p:nvPr/>
        </p:nvSpPr>
        <p:spPr>
          <a:xfrm>
            <a:off x="1024128" y="4206240"/>
            <a:ext cx="7543800" cy="47548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Real-life example:  </a:t>
            </a:r>
            <a:pPr indent="0" marL="0">
              <a:buNone/>
            </a:pPr>
            <a:r>
              <a:rPr lang="en-US" sz="1150" dirty="0">
                <a:solidFill>
                  <a:srgbClr val="1E2E30"/>
                </a:solidFill>
                <a:latin typeface="Calibri" pitchFamily="34" charset="0"/>
                <a:ea typeface="Calibri" pitchFamily="34" charset="-122"/>
                <a:cs typeface="Calibri" pitchFamily="34" charset="-120"/>
              </a:rPr>
              <a:t>Users request a dark mode — it's planned, built and shipped in version 2.0.</a:t>
            </a:r>
            <a:endParaRPr lang="en-US" sz="1150" dirty="0"/>
          </a:p>
        </p:txBody>
      </p:sp>
      <p:sp>
        <p:nvSpPr>
          <p:cNvPr id="18" name="Shape 14"/>
          <p:cNvSpPr/>
          <p:nvPr/>
        </p:nvSpPr>
        <p:spPr>
          <a:xfrm>
            <a:off x="3671316" y="4873752"/>
            <a:ext cx="100584" cy="100584"/>
          </a:xfrm>
          <a:prstGeom prst="ellipse">
            <a:avLst/>
          </a:prstGeom>
          <a:solidFill>
            <a:srgbClr val="D5E4E6"/>
          </a:solidFill>
          <a:ln/>
        </p:spPr>
      </p:sp>
      <p:sp>
        <p:nvSpPr>
          <p:cNvPr id="19" name="Shape 15"/>
          <p:cNvSpPr/>
          <p:nvPr/>
        </p:nvSpPr>
        <p:spPr>
          <a:xfrm>
            <a:off x="3954780" y="4873752"/>
            <a:ext cx="100584" cy="100584"/>
          </a:xfrm>
          <a:prstGeom prst="ellipse">
            <a:avLst/>
          </a:prstGeom>
          <a:solidFill>
            <a:srgbClr val="D5E4E6"/>
          </a:solidFill>
          <a:ln/>
        </p:spPr>
      </p:sp>
      <p:sp>
        <p:nvSpPr>
          <p:cNvPr id="20" name="Shape 16"/>
          <p:cNvSpPr/>
          <p:nvPr/>
        </p:nvSpPr>
        <p:spPr>
          <a:xfrm>
            <a:off x="4238244" y="4873752"/>
            <a:ext cx="100584" cy="100584"/>
          </a:xfrm>
          <a:prstGeom prst="ellipse">
            <a:avLst/>
          </a:prstGeom>
          <a:solidFill>
            <a:srgbClr val="D5E4E6"/>
          </a:solidFill>
          <a:ln/>
        </p:spPr>
      </p:sp>
      <p:sp>
        <p:nvSpPr>
          <p:cNvPr id="21" name="Shape 17"/>
          <p:cNvSpPr/>
          <p:nvPr/>
        </p:nvSpPr>
        <p:spPr>
          <a:xfrm>
            <a:off x="4521708" y="4873752"/>
            <a:ext cx="100584" cy="100584"/>
          </a:xfrm>
          <a:prstGeom prst="ellipse">
            <a:avLst/>
          </a:prstGeom>
          <a:solidFill>
            <a:srgbClr val="D5E4E6"/>
          </a:solidFill>
          <a:ln/>
        </p:spPr>
      </p:sp>
      <p:sp>
        <p:nvSpPr>
          <p:cNvPr id="22" name="Shape 18"/>
          <p:cNvSpPr/>
          <p:nvPr/>
        </p:nvSpPr>
        <p:spPr>
          <a:xfrm>
            <a:off x="4805172" y="4873752"/>
            <a:ext cx="100584" cy="100584"/>
          </a:xfrm>
          <a:prstGeom prst="ellipse">
            <a:avLst/>
          </a:prstGeom>
          <a:solidFill>
            <a:srgbClr val="D5E4E6"/>
          </a:solidFill>
          <a:ln/>
        </p:spPr>
      </p:sp>
      <p:sp>
        <p:nvSpPr>
          <p:cNvPr id="23" name="Shape 19"/>
          <p:cNvSpPr/>
          <p:nvPr/>
        </p:nvSpPr>
        <p:spPr>
          <a:xfrm>
            <a:off x="5088636" y="4873752"/>
            <a:ext cx="100584" cy="100584"/>
          </a:xfrm>
          <a:prstGeom prst="ellipse">
            <a:avLst/>
          </a:prstGeom>
          <a:solidFill>
            <a:srgbClr val="D5E4E6"/>
          </a:solidFill>
          <a:ln/>
        </p:spPr>
      </p:sp>
      <p:sp>
        <p:nvSpPr>
          <p:cNvPr id="24" name="Shape 20"/>
          <p:cNvSpPr/>
          <p:nvPr/>
        </p:nvSpPr>
        <p:spPr>
          <a:xfrm>
            <a:off x="5372100" y="4873752"/>
            <a:ext cx="100584" cy="100584"/>
          </a:xfrm>
          <a:prstGeom prst="ellipse">
            <a:avLst/>
          </a:prstGeom>
          <a:solidFill>
            <a:srgbClr val="028090"/>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DIFFERENT STYLES</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SDLC models: one process, many flavours</a:t>
            </a:r>
            <a:endParaRPr lang="en-US" sz="3200" dirty="0"/>
          </a:p>
        </p:txBody>
      </p:sp>
      <p:sp>
        <p:nvSpPr>
          <p:cNvPr id="4" name="Text 2"/>
          <p:cNvSpPr/>
          <p:nvPr/>
        </p:nvSpPr>
        <p:spPr>
          <a:xfrm>
            <a:off x="457200" y="1188720"/>
            <a:ext cx="8229600" cy="320040"/>
          </a:xfrm>
          <a:prstGeom prst="rect">
            <a:avLst/>
          </a:prstGeom>
          <a:noFill/>
          <a:ln/>
        </p:spPr>
        <p:txBody>
          <a:bodyPr wrap="square" lIns="0" tIns="0" rIns="0" bIns="0" rtlCol="0" anchor="ctr"/>
          <a:lstStyle/>
          <a:p>
            <a:pPr indent="0" marL="0">
              <a:buNone/>
            </a:pPr>
            <a:r>
              <a:rPr lang="en-US" sz="1400" i="1" dirty="0">
                <a:solidFill>
                  <a:srgbClr val="5F7377"/>
                </a:solidFill>
                <a:latin typeface="Calibri" pitchFamily="34" charset="0"/>
                <a:ea typeface="Calibri" pitchFamily="34" charset="-122"/>
                <a:cs typeface="Calibri" pitchFamily="34" charset="-120"/>
              </a:rPr>
              <a:t>The phases stay the same — models differ in HOW you move through them.</a:t>
            </a:r>
            <a:endParaRPr lang="en-US" sz="1400" dirty="0"/>
          </a:p>
        </p:txBody>
      </p:sp>
      <p:sp>
        <p:nvSpPr>
          <p:cNvPr id="5" name="Shape 3"/>
          <p:cNvSpPr/>
          <p:nvPr/>
        </p:nvSpPr>
        <p:spPr>
          <a:xfrm>
            <a:off x="324612" y="1627632"/>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6" name="Shape 4"/>
          <p:cNvSpPr/>
          <p:nvPr/>
        </p:nvSpPr>
        <p:spPr>
          <a:xfrm>
            <a:off x="507492" y="1810512"/>
            <a:ext cx="420624" cy="420624"/>
          </a:xfrm>
          <a:prstGeom prst="ellipse">
            <a:avLst/>
          </a:prstGeom>
          <a:solidFill>
            <a:srgbClr val="028090"/>
          </a:solidFill>
          <a:ln/>
        </p:spPr>
      </p:sp>
      <p:pic>
        <p:nvPicPr>
          <p:cNvPr id="7" name="Image 0" descr="preencoded.png">    </p:cNvPr>
          <p:cNvPicPr>
            <a:picLocks noChangeAspect="1"/>
          </p:cNvPicPr>
          <p:nvPr/>
        </p:nvPicPr>
        <p:blipFill>
          <a:blip r:embed="rId1"/>
          <a:stretch>
            <a:fillRect/>
          </a:stretch>
        </p:blipFill>
        <p:spPr>
          <a:xfrm>
            <a:off x="616854" y="1919874"/>
            <a:ext cx="201900" cy="201900"/>
          </a:xfrm>
          <a:prstGeom prst="rect">
            <a:avLst/>
          </a:prstGeom>
        </p:spPr>
      </p:pic>
      <p:sp>
        <p:nvSpPr>
          <p:cNvPr id="8" name="Text 5"/>
          <p:cNvSpPr/>
          <p:nvPr/>
        </p:nvSpPr>
        <p:spPr>
          <a:xfrm>
            <a:off x="1037844" y="1828800"/>
            <a:ext cx="1810512" cy="384048"/>
          </a:xfrm>
          <a:prstGeom prst="rect">
            <a:avLst/>
          </a:prstGeom>
          <a:noFill/>
          <a:ln/>
        </p:spPr>
        <p:txBody>
          <a:bodyPr wrap="square" lIns="0" tIns="0" rIns="0" bIns="0" rtlCol="0" anchor="ctr"/>
          <a:lstStyle/>
          <a:p>
            <a:pPr indent="0" marL="0">
              <a:buNone/>
            </a:pPr>
            <a:r>
              <a:rPr lang="en-US" sz="1550" b="1" dirty="0">
                <a:solidFill>
                  <a:srgbClr val="1E2E30"/>
                </a:solidFill>
                <a:latin typeface="Calibri" pitchFamily="34" charset="0"/>
                <a:ea typeface="Calibri" pitchFamily="34" charset="-122"/>
                <a:cs typeface="Calibri" pitchFamily="34" charset="-120"/>
              </a:rPr>
              <a:t>Waterfall</a:t>
            </a:r>
            <a:endParaRPr lang="en-US" sz="1550" dirty="0"/>
          </a:p>
        </p:txBody>
      </p:sp>
      <p:sp>
        <p:nvSpPr>
          <p:cNvPr id="9" name="Text 6"/>
          <p:cNvSpPr/>
          <p:nvPr/>
        </p:nvSpPr>
        <p:spPr>
          <a:xfrm>
            <a:off x="507492" y="2304288"/>
            <a:ext cx="2313432" cy="502920"/>
          </a:xfrm>
          <a:prstGeom prst="rect">
            <a:avLst/>
          </a:prstGeom>
          <a:noFill/>
          <a:ln/>
        </p:spPr>
        <p:txBody>
          <a:bodyPr wrap="square" lIns="0" tIns="0" rIns="0" bIns="0" rtlCol="0" anchor="t"/>
          <a:lstStyle/>
          <a:p>
            <a:pPr indent="0" marL="0">
              <a:buNone/>
            </a:pPr>
            <a:r>
              <a:rPr lang="en-US" sz="1150" dirty="0">
                <a:solidFill>
                  <a:srgbClr val="1E2E30"/>
                </a:solidFill>
                <a:latin typeface="Calibri" pitchFamily="34" charset="0"/>
                <a:ea typeface="Calibri" pitchFamily="34" charset="-122"/>
                <a:cs typeface="Calibri" pitchFamily="34" charset="-120"/>
              </a:rPr>
              <a:t>Finish each phase completely before the next begins.</a:t>
            </a:r>
            <a:endParaRPr lang="en-US" sz="1150" dirty="0"/>
          </a:p>
        </p:txBody>
      </p:sp>
      <p:sp>
        <p:nvSpPr>
          <p:cNvPr id="10" name="Text 7"/>
          <p:cNvSpPr/>
          <p:nvPr/>
        </p:nvSpPr>
        <p:spPr>
          <a:xfrm>
            <a:off x="507492" y="2798064"/>
            <a:ext cx="2313432" cy="274320"/>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Best for: </a:t>
            </a:r>
            <a:pPr indent="0" marL="0">
              <a:buNone/>
            </a:pPr>
            <a:r>
              <a:rPr lang="en-US" sz="1050" i="1" dirty="0">
                <a:solidFill>
                  <a:srgbClr val="5F7377"/>
                </a:solidFill>
                <a:latin typeface="Calibri" pitchFamily="34" charset="0"/>
                <a:ea typeface="Calibri" pitchFamily="34" charset="-122"/>
                <a:cs typeface="Calibri" pitchFamily="34" charset="-120"/>
              </a:rPr>
              <a:t>Fixed, well-understood projects</a:t>
            </a:r>
            <a:endParaRPr lang="en-US" sz="1050" dirty="0"/>
          </a:p>
        </p:txBody>
      </p:sp>
      <p:sp>
        <p:nvSpPr>
          <p:cNvPr id="11" name="Shape 8"/>
          <p:cNvSpPr/>
          <p:nvPr/>
        </p:nvSpPr>
        <p:spPr>
          <a:xfrm>
            <a:off x="3232404" y="1627632"/>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12" name="Shape 9"/>
          <p:cNvSpPr/>
          <p:nvPr/>
        </p:nvSpPr>
        <p:spPr>
          <a:xfrm>
            <a:off x="3415284" y="1810512"/>
            <a:ext cx="420624" cy="420624"/>
          </a:xfrm>
          <a:prstGeom prst="ellipse">
            <a:avLst/>
          </a:prstGeom>
          <a:solidFill>
            <a:srgbClr val="028090"/>
          </a:solidFill>
          <a:ln/>
        </p:spPr>
      </p:sp>
      <p:pic>
        <p:nvPicPr>
          <p:cNvPr id="13" name="Image 1" descr="preencoded.png">    </p:cNvPr>
          <p:cNvPicPr>
            <a:picLocks noChangeAspect="1"/>
          </p:cNvPicPr>
          <p:nvPr/>
        </p:nvPicPr>
        <p:blipFill>
          <a:blip r:embed="rId2"/>
          <a:stretch>
            <a:fillRect/>
          </a:stretch>
        </p:blipFill>
        <p:spPr>
          <a:xfrm>
            <a:off x="3524646" y="1919874"/>
            <a:ext cx="201900" cy="201900"/>
          </a:xfrm>
          <a:prstGeom prst="rect">
            <a:avLst/>
          </a:prstGeom>
        </p:spPr>
      </p:pic>
      <p:sp>
        <p:nvSpPr>
          <p:cNvPr id="14" name="Text 10"/>
          <p:cNvSpPr/>
          <p:nvPr/>
        </p:nvSpPr>
        <p:spPr>
          <a:xfrm>
            <a:off x="3945636" y="1828800"/>
            <a:ext cx="1810512" cy="384048"/>
          </a:xfrm>
          <a:prstGeom prst="rect">
            <a:avLst/>
          </a:prstGeom>
          <a:noFill/>
          <a:ln/>
        </p:spPr>
        <p:txBody>
          <a:bodyPr wrap="square" lIns="0" tIns="0" rIns="0" bIns="0" rtlCol="0" anchor="ctr"/>
          <a:lstStyle/>
          <a:p>
            <a:pPr indent="0" marL="0">
              <a:buNone/>
            </a:pPr>
            <a:r>
              <a:rPr lang="en-US" sz="1550" b="1" dirty="0">
                <a:solidFill>
                  <a:srgbClr val="1E2E30"/>
                </a:solidFill>
                <a:latin typeface="Calibri" pitchFamily="34" charset="0"/>
                <a:ea typeface="Calibri" pitchFamily="34" charset="-122"/>
                <a:cs typeface="Calibri" pitchFamily="34" charset="-120"/>
              </a:rPr>
              <a:t>Agile</a:t>
            </a:r>
            <a:endParaRPr lang="en-US" sz="1550" dirty="0"/>
          </a:p>
        </p:txBody>
      </p:sp>
      <p:sp>
        <p:nvSpPr>
          <p:cNvPr id="15" name="Text 11"/>
          <p:cNvSpPr/>
          <p:nvPr/>
        </p:nvSpPr>
        <p:spPr>
          <a:xfrm>
            <a:off x="3415284" y="2304288"/>
            <a:ext cx="2313432" cy="502920"/>
          </a:xfrm>
          <a:prstGeom prst="rect">
            <a:avLst/>
          </a:prstGeom>
          <a:noFill/>
          <a:ln/>
        </p:spPr>
        <p:txBody>
          <a:bodyPr wrap="square" lIns="0" tIns="0" rIns="0" bIns="0" rtlCol="0" anchor="t"/>
          <a:lstStyle/>
          <a:p>
            <a:pPr indent="0" marL="0">
              <a:buNone/>
            </a:pPr>
            <a:r>
              <a:rPr lang="en-US" sz="1150" dirty="0">
                <a:solidFill>
                  <a:srgbClr val="1E2E30"/>
                </a:solidFill>
                <a:latin typeface="Calibri" pitchFamily="34" charset="0"/>
                <a:ea typeface="Calibri" pitchFamily="34" charset="-122"/>
                <a:cs typeface="Calibri" pitchFamily="34" charset="-120"/>
              </a:rPr>
              <a:t>Build in short cycles (sprints), improving with feedback.</a:t>
            </a:r>
            <a:endParaRPr lang="en-US" sz="1150" dirty="0"/>
          </a:p>
        </p:txBody>
      </p:sp>
      <p:sp>
        <p:nvSpPr>
          <p:cNvPr id="16" name="Text 12"/>
          <p:cNvSpPr/>
          <p:nvPr/>
        </p:nvSpPr>
        <p:spPr>
          <a:xfrm>
            <a:off x="3415284" y="2798064"/>
            <a:ext cx="2313432" cy="274320"/>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Best for: </a:t>
            </a:r>
            <a:pPr indent="0" marL="0">
              <a:buNone/>
            </a:pPr>
            <a:r>
              <a:rPr lang="en-US" sz="1050" i="1" dirty="0">
                <a:solidFill>
                  <a:srgbClr val="5F7377"/>
                </a:solidFill>
                <a:latin typeface="Calibri" pitchFamily="34" charset="0"/>
                <a:ea typeface="Calibri" pitchFamily="34" charset="-122"/>
                <a:cs typeface="Calibri" pitchFamily="34" charset="-120"/>
              </a:rPr>
              <a:t>Fast-changing requirements</a:t>
            </a:r>
            <a:endParaRPr lang="en-US" sz="1050" dirty="0"/>
          </a:p>
        </p:txBody>
      </p:sp>
      <p:sp>
        <p:nvSpPr>
          <p:cNvPr id="17" name="Shape 13"/>
          <p:cNvSpPr/>
          <p:nvPr/>
        </p:nvSpPr>
        <p:spPr>
          <a:xfrm>
            <a:off x="6140196" y="1627632"/>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18" name="Shape 14"/>
          <p:cNvSpPr/>
          <p:nvPr/>
        </p:nvSpPr>
        <p:spPr>
          <a:xfrm>
            <a:off x="6323076" y="1810512"/>
            <a:ext cx="420624" cy="420624"/>
          </a:xfrm>
          <a:prstGeom prst="ellipse">
            <a:avLst/>
          </a:prstGeom>
          <a:solidFill>
            <a:srgbClr val="028090"/>
          </a:solidFill>
          <a:ln/>
        </p:spPr>
      </p:sp>
      <p:pic>
        <p:nvPicPr>
          <p:cNvPr id="19" name="Image 2" descr="preencoded.png">    </p:cNvPr>
          <p:cNvPicPr>
            <a:picLocks noChangeAspect="1"/>
          </p:cNvPicPr>
          <p:nvPr/>
        </p:nvPicPr>
        <p:blipFill>
          <a:blip r:embed="rId3"/>
          <a:stretch>
            <a:fillRect/>
          </a:stretch>
        </p:blipFill>
        <p:spPr>
          <a:xfrm>
            <a:off x="6432438" y="1919874"/>
            <a:ext cx="201900" cy="201900"/>
          </a:xfrm>
          <a:prstGeom prst="rect">
            <a:avLst/>
          </a:prstGeom>
        </p:spPr>
      </p:pic>
      <p:sp>
        <p:nvSpPr>
          <p:cNvPr id="20" name="Text 15"/>
          <p:cNvSpPr/>
          <p:nvPr/>
        </p:nvSpPr>
        <p:spPr>
          <a:xfrm>
            <a:off x="6853428" y="1828800"/>
            <a:ext cx="1810512" cy="384048"/>
          </a:xfrm>
          <a:prstGeom prst="rect">
            <a:avLst/>
          </a:prstGeom>
          <a:noFill/>
          <a:ln/>
        </p:spPr>
        <p:txBody>
          <a:bodyPr wrap="square" lIns="0" tIns="0" rIns="0" bIns="0" rtlCol="0" anchor="ctr"/>
          <a:lstStyle/>
          <a:p>
            <a:pPr indent="0" marL="0">
              <a:buNone/>
            </a:pPr>
            <a:r>
              <a:rPr lang="en-US" sz="1550" b="1" dirty="0">
                <a:solidFill>
                  <a:srgbClr val="1E2E30"/>
                </a:solidFill>
                <a:latin typeface="Calibri" pitchFamily="34" charset="0"/>
                <a:ea typeface="Calibri" pitchFamily="34" charset="-122"/>
                <a:cs typeface="Calibri" pitchFamily="34" charset="-120"/>
              </a:rPr>
              <a:t>Iterative</a:t>
            </a:r>
            <a:endParaRPr lang="en-US" sz="1550" dirty="0"/>
          </a:p>
        </p:txBody>
      </p:sp>
      <p:sp>
        <p:nvSpPr>
          <p:cNvPr id="21" name="Text 16"/>
          <p:cNvSpPr/>
          <p:nvPr/>
        </p:nvSpPr>
        <p:spPr>
          <a:xfrm>
            <a:off x="6323076" y="2304288"/>
            <a:ext cx="2313432" cy="502920"/>
          </a:xfrm>
          <a:prstGeom prst="rect">
            <a:avLst/>
          </a:prstGeom>
          <a:noFill/>
          <a:ln/>
        </p:spPr>
        <p:txBody>
          <a:bodyPr wrap="square" lIns="0" tIns="0" rIns="0" bIns="0" rtlCol="0" anchor="t"/>
          <a:lstStyle/>
          <a:p>
            <a:pPr indent="0" marL="0">
              <a:buNone/>
            </a:pPr>
            <a:r>
              <a:rPr lang="en-US" sz="1150" dirty="0">
                <a:solidFill>
                  <a:srgbClr val="1E2E30"/>
                </a:solidFill>
                <a:latin typeface="Calibri" pitchFamily="34" charset="0"/>
                <a:ea typeface="Calibri" pitchFamily="34" charset="-122"/>
                <a:cs typeface="Calibri" pitchFamily="34" charset="-120"/>
              </a:rPr>
              <a:t>Build a basic version first, then refine it in rounds.</a:t>
            </a:r>
            <a:endParaRPr lang="en-US" sz="1150" dirty="0"/>
          </a:p>
        </p:txBody>
      </p:sp>
      <p:sp>
        <p:nvSpPr>
          <p:cNvPr id="22" name="Text 17"/>
          <p:cNvSpPr/>
          <p:nvPr/>
        </p:nvSpPr>
        <p:spPr>
          <a:xfrm>
            <a:off x="6323076" y="2798064"/>
            <a:ext cx="2313432" cy="274320"/>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Best for: </a:t>
            </a:r>
            <a:pPr indent="0" marL="0">
              <a:buNone/>
            </a:pPr>
            <a:r>
              <a:rPr lang="en-US" sz="1050" i="1" dirty="0">
                <a:solidFill>
                  <a:srgbClr val="5F7377"/>
                </a:solidFill>
                <a:latin typeface="Calibri" pitchFamily="34" charset="0"/>
                <a:ea typeface="Calibri" pitchFamily="34" charset="-122"/>
                <a:cs typeface="Calibri" pitchFamily="34" charset="-120"/>
              </a:rPr>
              <a:t>Large systems built gradually</a:t>
            </a:r>
            <a:endParaRPr lang="en-US" sz="1050" dirty="0"/>
          </a:p>
        </p:txBody>
      </p:sp>
      <p:sp>
        <p:nvSpPr>
          <p:cNvPr id="23" name="Shape 18"/>
          <p:cNvSpPr/>
          <p:nvPr/>
        </p:nvSpPr>
        <p:spPr>
          <a:xfrm>
            <a:off x="1778508" y="3364992"/>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24" name="Shape 19"/>
          <p:cNvSpPr/>
          <p:nvPr/>
        </p:nvSpPr>
        <p:spPr>
          <a:xfrm>
            <a:off x="1961388" y="3547872"/>
            <a:ext cx="420624" cy="420624"/>
          </a:xfrm>
          <a:prstGeom prst="ellipse">
            <a:avLst/>
          </a:prstGeom>
          <a:solidFill>
            <a:srgbClr val="028090"/>
          </a:solidFill>
          <a:ln/>
        </p:spPr>
      </p:sp>
      <p:pic>
        <p:nvPicPr>
          <p:cNvPr id="25" name="Image 3" descr="preencoded.png">    </p:cNvPr>
          <p:cNvPicPr>
            <a:picLocks noChangeAspect="1"/>
          </p:cNvPicPr>
          <p:nvPr/>
        </p:nvPicPr>
        <p:blipFill>
          <a:blip r:embed="rId4"/>
          <a:stretch>
            <a:fillRect/>
          </a:stretch>
        </p:blipFill>
        <p:spPr>
          <a:xfrm>
            <a:off x="2070750" y="3657234"/>
            <a:ext cx="201900" cy="201900"/>
          </a:xfrm>
          <a:prstGeom prst="rect">
            <a:avLst/>
          </a:prstGeom>
        </p:spPr>
      </p:pic>
      <p:sp>
        <p:nvSpPr>
          <p:cNvPr id="26" name="Text 20"/>
          <p:cNvSpPr/>
          <p:nvPr/>
        </p:nvSpPr>
        <p:spPr>
          <a:xfrm>
            <a:off x="2491740" y="3566160"/>
            <a:ext cx="1810512" cy="384048"/>
          </a:xfrm>
          <a:prstGeom prst="rect">
            <a:avLst/>
          </a:prstGeom>
          <a:noFill/>
          <a:ln/>
        </p:spPr>
        <p:txBody>
          <a:bodyPr wrap="square" lIns="0" tIns="0" rIns="0" bIns="0" rtlCol="0" anchor="ctr"/>
          <a:lstStyle/>
          <a:p>
            <a:pPr indent="0" marL="0">
              <a:buNone/>
            </a:pPr>
            <a:r>
              <a:rPr lang="en-US" sz="1550" b="1" dirty="0">
                <a:solidFill>
                  <a:srgbClr val="1E2E30"/>
                </a:solidFill>
                <a:latin typeface="Calibri" pitchFamily="34" charset="0"/>
                <a:ea typeface="Calibri" pitchFamily="34" charset="-122"/>
                <a:cs typeface="Calibri" pitchFamily="34" charset="-120"/>
              </a:rPr>
              <a:t>Spiral</a:t>
            </a:r>
            <a:endParaRPr lang="en-US" sz="1550" dirty="0"/>
          </a:p>
        </p:txBody>
      </p:sp>
      <p:sp>
        <p:nvSpPr>
          <p:cNvPr id="27" name="Text 21"/>
          <p:cNvSpPr/>
          <p:nvPr/>
        </p:nvSpPr>
        <p:spPr>
          <a:xfrm>
            <a:off x="1961388" y="4041648"/>
            <a:ext cx="2313432" cy="502920"/>
          </a:xfrm>
          <a:prstGeom prst="rect">
            <a:avLst/>
          </a:prstGeom>
          <a:noFill/>
          <a:ln/>
        </p:spPr>
        <p:txBody>
          <a:bodyPr wrap="square" lIns="0" tIns="0" rIns="0" bIns="0" rtlCol="0" anchor="t"/>
          <a:lstStyle/>
          <a:p>
            <a:pPr indent="0" marL="0">
              <a:buNone/>
            </a:pPr>
            <a:r>
              <a:rPr lang="en-US" sz="1150" dirty="0">
                <a:solidFill>
                  <a:srgbClr val="1E2E30"/>
                </a:solidFill>
                <a:latin typeface="Calibri" pitchFamily="34" charset="0"/>
                <a:ea typeface="Calibri" pitchFamily="34" charset="-122"/>
                <a:cs typeface="Calibri" pitchFamily="34" charset="-120"/>
              </a:rPr>
              <a:t>Repeated loops with heavy risk analysis at every turn.</a:t>
            </a:r>
            <a:endParaRPr lang="en-US" sz="1150" dirty="0"/>
          </a:p>
        </p:txBody>
      </p:sp>
      <p:sp>
        <p:nvSpPr>
          <p:cNvPr id="28" name="Text 22"/>
          <p:cNvSpPr/>
          <p:nvPr/>
        </p:nvSpPr>
        <p:spPr>
          <a:xfrm>
            <a:off x="1961388" y="4535424"/>
            <a:ext cx="2313432" cy="274320"/>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Best for: </a:t>
            </a:r>
            <a:pPr indent="0" marL="0">
              <a:buNone/>
            </a:pPr>
            <a:r>
              <a:rPr lang="en-US" sz="1050" i="1" dirty="0">
                <a:solidFill>
                  <a:srgbClr val="5F7377"/>
                </a:solidFill>
                <a:latin typeface="Calibri" pitchFamily="34" charset="0"/>
                <a:ea typeface="Calibri" pitchFamily="34" charset="-122"/>
                <a:cs typeface="Calibri" pitchFamily="34" charset="-120"/>
              </a:rPr>
              <a:t>Big, high-risk projects</a:t>
            </a:r>
            <a:endParaRPr lang="en-US" sz="1050" dirty="0"/>
          </a:p>
        </p:txBody>
      </p:sp>
      <p:sp>
        <p:nvSpPr>
          <p:cNvPr id="29" name="Shape 23"/>
          <p:cNvSpPr/>
          <p:nvPr/>
        </p:nvSpPr>
        <p:spPr>
          <a:xfrm>
            <a:off x="4686300" y="3364992"/>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30" name="Shape 24"/>
          <p:cNvSpPr/>
          <p:nvPr/>
        </p:nvSpPr>
        <p:spPr>
          <a:xfrm>
            <a:off x="4869180" y="3547872"/>
            <a:ext cx="420624" cy="420624"/>
          </a:xfrm>
          <a:prstGeom prst="ellipse">
            <a:avLst/>
          </a:prstGeom>
          <a:solidFill>
            <a:srgbClr val="028090"/>
          </a:solidFill>
          <a:ln/>
        </p:spPr>
      </p:sp>
      <p:pic>
        <p:nvPicPr>
          <p:cNvPr id="31" name="Image 4" descr="preencoded.png">    </p:cNvPr>
          <p:cNvPicPr>
            <a:picLocks noChangeAspect="1"/>
          </p:cNvPicPr>
          <p:nvPr/>
        </p:nvPicPr>
        <p:blipFill>
          <a:blip r:embed="rId5"/>
          <a:stretch>
            <a:fillRect/>
          </a:stretch>
        </p:blipFill>
        <p:spPr>
          <a:xfrm>
            <a:off x="4978542" y="3657234"/>
            <a:ext cx="201900" cy="201900"/>
          </a:xfrm>
          <a:prstGeom prst="rect">
            <a:avLst/>
          </a:prstGeom>
        </p:spPr>
      </p:pic>
      <p:sp>
        <p:nvSpPr>
          <p:cNvPr id="32" name="Text 25"/>
          <p:cNvSpPr/>
          <p:nvPr/>
        </p:nvSpPr>
        <p:spPr>
          <a:xfrm>
            <a:off x="5399532" y="3566160"/>
            <a:ext cx="1810512" cy="384048"/>
          </a:xfrm>
          <a:prstGeom prst="rect">
            <a:avLst/>
          </a:prstGeom>
          <a:noFill/>
          <a:ln/>
        </p:spPr>
        <p:txBody>
          <a:bodyPr wrap="square" lIns="0" tIns="0" rIns="0" bIns="0" rtlCol="0" anchor="ctr"/>
          <a:lstStyle/>
          <a:p>
            <a:pPr indent="0" marL="0">
              <a:buNone/>
            </a:pPr>
            <a:r>
              <a:rPr lang="en-US" sz="1550" b="1" dirty="0">
                <a:solidFill>
                  <a:srgbClr val="1E2E30"/>
                </a:solidFill>
                <a:latin typeface="Calibri" pitchFamily="34" charset="0"/>
                <a:ea typeface="Calibri" pitchFamily="34" charset="-122"/>
                <a:cs typeface="Calibri" pitchFamily="34" charset="-120"/>
              </a:rPr>
              <a:t>V-Model</a:t>
            </a:r>
            <a:endParaRPr lang="en-US" sz="1550" dirty="0"/>
          </a:p>
        </p:txBody>
      </p:sp>
      <p:sp>
        <p:nvSpPr>
          <p:cNvPr id="33" name="Text 26"/>
          <p:cNvSpPr/>
          <p:nvPr/>
        </p:nvSpPr>
        <p:spPr>
          <a:xfrm>
            <a:off x="4869180" y="4041648"/>
            <a:ext cx="2313432" cy="502920"/>
          </a:xfrm>
          <a:prstGeom prst="rect">
            <a:avLst/>
          </a:prstGeom>
          <a:noFill/>
          <a:ln/>
        </p:spPr>
        <p:txBody>
          <a:bodyPr wrap="square" lIns="0" tIns="0" rIns="0" bIns="0" rtlCol="0" anchor="t"/>
          <a:lstStyle/>
          <a:p>
            <a:pPr indent="0" marL="0">
              <a:buNone/>
            </a:pPr>
            <a:r>
              <a:rPr lang="en-US" sz="1150" dirty="0">
                <a:solidFill>
                  <a:srgbClr val="1E2E30"/>
                </a:solidFill>
                <a:latin typeface="Calibri" pitchFamily="34" charset="0"/>
                <a:ea typeface="Calibri" pitchFamily="34" charset="-122"/>
                <a:cs typeface="Calibri" pitchFamily="34" charset="-120"/>
              </a:rPr>
              <a:t>Every build step is paired with a matching test step.</a:t>
            </a:r>
            <a:endParaRPr lang="en-US" sz="1150" dirty="0"/>
          </a:p>
        </p:txBody>
      </p:sp>
      <p:sp>
        <p:nvSpPr>
          <p:cNvPr id="34" name="Text 27"/>
          <p:cNvSpPr/>
          <p:nvPr/>
        </p:nvSpPr>
        <p:spPr>
          <a:xfrm>
            <a:off x="4869180" y="4535424"/>
            <a:ext cx="2313432" cy="274320"/>
          </a:xfrm>
          <a:prstGeom prst="rect">
            <a:avLst/>
          </a:prstGeom>
          <a:noFill/>
          <a:ln/>
        </p:spPr>
        <p:txBody>
          <a:bodyPr wrap="square" lIns="0" tIns="0" rIns="0" bIns="0" rtlCol="0" anchor="ctr"/>
          <a:lstStyle/>
          <a:p>
            <a:pPr indent="0" marL="0">
              <a:buNone/>
            </a:pPr>
            <a:r>
              <a:rPr lang="en-US" sz="1050" b="1" dirty="0">
                <a:solidFill>
                  <a:srgbClr val="00A896"/>
                </a:solidFill>
                <a:latin typeface="Calibri" pitchFamily="34" charset="0"/>
                <a:ea typeface="Calibri" pitchFamily="34" charset="-122"/>
                <a:cs typeface="Calibri" pitchFamily="34" charset="-120"/>
              </a:rPr>
              <a:t>Best for: </a:t>
            </a:r>
            <a:pPr indent="0" marL="0">
              <a:buNone/>
            </a:pPr>
            <a:r>
              <a:rPr lang="en-US" sz="1050" i="1" dirty="0">
                <a:solidFill>
                  <a:srgbClr val="5F7377"/>
                </a:solidFill>
                <a:latin typeface="Calibri" pitchFamily="34" charset="0"/>
                <a:ea typeface="Calibri" pitchFamily="34" charset="-122"/>
                <a:cs typeface="Calibri" pitchFamily="34" charset="-120"/>
              </a:rPr>
              <a:t>Safety-critical software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THE CLASSIC DEBATE</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Waterfall vs. Agile: the big two</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737360"/>
                <a:gridCol w="3246120"/>
                <a:gridCol w="3246120"/>
              </a:tblGrid>
              <a:tr h="384048">
                <a:tc>
                  <a:txBody>
                    <a:bodyPr/>
                    <a:lstStyle/>
                    <a:p>
                      <a:pPr indent="0" marL="0">
                        <a:buNone/>
                      </a:pPr>
                      <a:endParaRPr lang="en-US" sz="1200" dirty="0">
                        <a:latin typeface="Calibri" charset="0"/>
                        <a:ea typeface="Calibri" charset="0"/>
                        <a:cs typeface="Calibri" charset="0"/>
                      </a:endParaRPr>
                    </a:p>
                  </a:txBody>
                  <a:tcPr marL="73152" marR="73152" marT="73152" marB="73152">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Waterfall</a:t>
                      </a:r>
                      <a:endParaRPr lang="en-US" sz="15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05343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Agile</a:t>
                      </a:r>
                      <a:endParaRPr lang="en-US" sz="15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028090"/>
                    </a:solidFill>
                  </a:tcPr>
                </a:tc>
              </a:tr>
              <a:tr h="512064">
                <a:tc>
                  <a:txBody>
                    <a:bodyPr/>
                    <a:lstStyle/>
                    <a:p>
                      <a:pPr indent="0" marL="0">
                        <a:buNone/>
                      </a:pPr>
                      <a:r>
                        <a:rPr lang="en-US" sz="1200" b="1" dirty="0">
                          <a:solidFill>
                            <a:srgbClr val="1E2E30"/>
                          </a:solidFill>
                          <a:latin typeface="Calibri" pitchFamily="34" charset="0"/>
                          <a:ea typeface="Calibri" pitchFamily="34" charset="-122"/>
                          <a:cs typeface="Calibri" pitchFamily="34" charset="-120"/>
                        </a:rPr>
                        <a:t>How it flows</a:t>
                      </a:r>
                      <a:endParaRPr lang="en-US" sz="12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E9F5F5"/>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One phase at a time, start to finish</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Short repeating cycles called sprints (1–4 weeks)</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1E2E30"/>
                          </a:solidFill>
                          <a:latin typeface="Calibri" pitchFamily="34" charset="0"/>
                          <a:ea typeface="Calibri" pitchFamily="34" charset="-122"/>
                          <a:cs typeface="Calibri" pitchFamily="34" charset="-120"/>
                        </a:rPr>
                        <a:t>Handling change</a:t>
                      </a:r>
                      <a:endParaRPr lang="en-US" sz="12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E9F5F5"/>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Hard — changes late in the project are costly</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4FAF9"/>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Easy — feedback reshapes the plan every sprint</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4FAF9"/>
                    </a:solidFill>
                  </a:tcPr>
                </a:tc>
              </a:tr>
              <a:tr h="512064">
                <a:tc>
                  <a:txBody>
                    <a:bodyPr/>
                    <a:lstStyle/>
                    <a:p>
                      <a:pPr indent="0" marL="0">
                        <a:buNone/>
                      </a:pPr>
                      <a:r>
                        <a:rPr lang="en-US" sz="1200" b="1" dirty="0">
                          <a:solidFill>
                            <a:srgbClr val="1E2E30"/>
                          </a:solidFill>
                          <a:latin typeface="Calibri" pitchFamily="34" charset="0"/>
                          <a:ea typeface="Calibri" pitchFamily="34" charset="-122"/>
                          <a:cs typeface="Calibri" pitchFamily="34" charset="-120"/>
                        </a:rPr>
                        <a:t>When users see it</a:t>
                      </a:r>
                      <a:endParaRPr lang="en-US" sz="12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E9F5F5"/>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Only at the very end</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A working version after every sprint</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1E2E30"/>
                          </a:solidFill>
                          <a:latin typeface="Calibri" pitchFamily="34" charset="0"/>
                          <a:ea typeface="Calibri" pitchFamily="34" charset="-122"/>
                          <a:cs typeface="Calibri" pitchFamily="34" charset="-120"/>
                        </a:rPr>
                        <a:t>Documentation</a:t>
                      </a:r>
                      <a:endParaRPr lang="en-US" sz="12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E9F5F5"/>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Heavy and detailed up front</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4FAF9"/>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Lighter — working software comes first</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4FAF9"/>
                    </a:solidFill>
                  </a:tcPr>
                </a:tc>
              </a:tr>
              <a:tr h="512064">
                <a:tc>
                  <a:txBody>
                    <a:bodyPr/>
                    <a:lstStyle/>
                    <a:p>
                      <a:pPr indent="0" marL="0">
                        <a:buNone/>
                      </a:pPr>
                      <a:r>
                        <a:rPr lang="en-US" sz="1200" b="1" dirty="0">
                          <a:solidFill>
                            <a:srgbClr val="1E2E30"/>
                          </a:solidFill>
                          <a:latin typeface="Calibri" pitchFamily="34" charset="0"/>
                          <a:ea typeface="Calibri" pitchFamily="34" charset="-122"/>
                          <a:cs typeface="Calibri" pitchFamily="34" charset="-120"/>
                        </a:rPr>
                        <a:t>Best suited for</a:t>
                      </a:r>
                      <a:endParaRPr lang="en-US" sz="120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E9F5F5"/>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Stable, clearly defined projects</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150" dirty="0">
                          <a:solidFill>
                            <a:srgbClr val="1E2E30"/>
                          </a:solidFill>
                          <a:latin typeface="Calibri" pitchFamily="34" charset="0"/>
                          <a:ea typeface="Calibri" pitchFamily="34" charset="-122"/>
                          <a:cs typeface="Calibri" pitchFamily="34" charset="-120"/>
                        </a:rPr>
                        <a:t>Startups &amp; products that evolve quickly</a:t>
                      </a:r>
                      <a:endParaRPr lang="en-US" sz="1150" dirty="0">
                        <a:latin typeface="Calibri" charset="0"/>
                        <a:ea typeface="Calibri" charset="0"/>
                        <a:cs typeface="Calibri" charset="0"/>
                      </a:endParaRPr>
                    </a:p>
                  </a:txBody>
                  <a:tcPr marL="73152" marR="73152" marT="73152" marB="73152" anchor="ctr">
                    <a:lnL w="12700" cap="flat" cmpd="sng" algn="ctr">
                      <a:solidFill>
                        <a:srgbClr val="D5E4E6"/>
                      </a:solidFill>
                      <a:prstDash val="solid"/>
                      <a:round/>
                      <a:headEnd type="none" w="med" len="med"/>
                      <a:tailEnd type="none" w="med" len="med"/>
                    </a:lnL>
                    <a:lnR w="12700" cap="flat" cmpd="sng" algn="ctr">
                      <a:solidFill>
                        <a:srgbClr val="D5E4E6"/>
                      </a:solidFill>
                      <a:prstDash val="solid"/>
                      <a:round/>
                      <a:headEnd type="none" w="med" len="med"/>
                      <a:tailEnd type="none" w="med" len="med"/>
                    </a:lnR>
                    <a:lnT w="12700" cap="flat" cmpd="sng" algn="ctr">
                      <a:solidFill>
                        <a:srgbClr val="D5E4E6"/>
                      </a:solidFill>
                      <a:prstDash val="solid"/>
                      <a:round/>
                      <a:headEnd type="none" w="med" len="med"/>
                      <a:tailEnd type="none" w="med" len="med"/>
                    </a:lnT>
                    <a:lnB w="12700" cap="flat" cmpd="sng" algn="ctr">
                      <a:solidFill>
                        <a:srgbClr val="D5E4E6"/>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200" i="1" dirty="0">
                <a:solidFill>
                  <a:srgbClr val="5F7377"/>
                </a:solidFill>
                <a:latin typeface="Calibri" pitchFamily="34" charset="0"/>
                <a:ea typeface="Calibri" pitchFamily="34" charset="-122"/>
                <a:cs typeface="Calibri" pitchFamily="34" charset="-120"/>
              </a:rPr>
              <a:t>In practice, many companies blend both — a 'hybrid' approach.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THE TEAM</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Who's who in the SDLC</a:t>
            </a:r>
            <a:endParaRPr lang="en-US" sz="3200" dirty="0"/>
          </a:p>
        </p:txBody>
      </p:sp>
      <p:sp>
        <p:nvSpPr>
          <p:cNvPr id="4" name="Shape 2"/>
          <p:cNvSpPr/>
          <p:nvPr/>
        </p:nvSpPr>
        <p:spPr>
          <a:xfrm>
            <a:off x="324612" y="1463040"/>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5" name="Shape 3"/>
          <p:cNvSpPr/>
          <p:nvPr/>
        </p:nvSpPr>
        <p:spPr>
          <a:xfrm>
            <a:off x="507492" y="1645920"/>
            <a:ext cx="420624" cy="420624"/>
          </a:xfrm>
          <a:prstGeom prst="ellipse">
            <a:avLst/>
          </a:prstGeom>
          <a:solidFill>
            <a:srgbClr val="00A896"/>
          </a:solidFill>
          <a:ln/>
        </p:spPr>
      </p:sp>
      <p:pic>
        <p:nvPicPr>
          <p:cNvPr id="6" name="Image 0" descr="preencoded.png">    </p:cNvPr>
          <p:cNvPicPr>
            <a:picLocks noChangeAspect="1"/>
          </p:cNvPicPr>
          <p:nvPr/>
        </p:nvPicPr>
        <p:blipFill>
          <a:blip r:embed="rId1"/>
          <a:stretch>
            <a:fillRect/>
          </a:stretch>
        </p:blipFill>
        <p:spPr>
          <a:xfrm>
            <a:off x="616854" y="1755282"/>
            <a:ext cx="201900" cy="201900"/>
          </a:xfrm>
          <a:prstGeom prst="rect">
            <a:avLst/>
          </a:prstGeom>
        </p:spPr>
      </p:pic>
      <p:sp>
        <p:nvSpPr>
          <p:cNvPr id="7" name="Text 4"/>
          <p:cNvSpPr/>
          <p:nvPr/>
        </p:nvSpPr>
        <p:spPr>
          <a:xfrm>
            <a:off x="1037844" y="1627632"/>
            <a:ext cx="1856232" cy="457200"/>
          </a:xfrm>
          <a:prstGeom prst="rect">
            <a:avLst/>
          </a:prstGeom>
          <a:noFill/>
          <a:ln/>
        </p:spPr>
        <p:txBody>
          <a:bodyPr wrap="square" lIns="0" tIns="0" rIns="0" bIns="0" rtlCol="0" anchor="ctr"/>
          <a:lstStyle/>
          <a:p>
            <a:pPr indent="0" marL="0">
              <a:buNone/>
            </a:pPr>
            <a:r>
              <a:rPr lang="en-US" sz="1350" b="1" dirty="0">
                <a:solidFill>
                  <a:srgbClr val="1E2E30"/>
                </a:solidFill>
                <a:latin typeface="Calibri" pitchFamily="34" charset="0"/>
                <a:ea typeface="Calibri" pitchFamily="34" charset="-122"/>
                <a:cs typeface="Calibri" pitchFamily="34" charset="-120"/>
              </a:rPr>
              <a:t>Project Manager</a:t>
            </a:r>
            <a:endParaRPr lang="en-US" sz="1350" dirty="0"/>
          </a:p>
        </p:txBody>
      </p:sp>
      <p:sp>
        <p:nvSpPr>
          <p:cNvPr id="8" name="Text 5"/>
          <p:cNvSpPr/>
          <p:nvPr/>
        </p:nvSpPr>
        <p:spPr>
          <a:xfrm>
            <a:off x="507492" y="2157984"/>
            <a:ext cx="2313432" cy="530352"/>
          </a:xfrm>
          <a:prstGeom prst="rect">
            <a:avLst/>
          </a:prstGeom>
          <a:noFill/>
          <a:ln/>
        </p:spPr>
        <p:txBody>
          <a:bodyPr wrap="square" lIns="0" tIns="0" rIns="0" bIns="0" rtlCol="0" anchor="t"/>
          <a:lstStyle/>
          <a:p>
            <a:pPr indent="0" marL="0">
              <a:buNone/>
            </a:pPr>
            <a:r>
              <a:rPr lang="en-US" sz="1100" dirty="0">
                <a:solidFill>
                  <a:srgbClr val="1E2E30"/>
                </a:solidFill>
                <a:latin typeface="Calibri" pitchFamily="34" charset="0"/>
                <a:ea typeface="Calibri" pitchFamily="34" charset="-122"/>
                <a:cs typeface="Calibri" pitchFamily="34" charset="-120"/>
              </a:rPr>
              <a:t>Owns the plan, budget and timeline; keeps everyone moving.</a:t>
            </a:r>
            <a:endParaRPr lang="en-US" sz="1100" dirty="0"/>
          </a:p>
        </p:txBody>
      </p:sp>
      <p:sp>
        <p:nvSpPr>
          <p:cNvPr id="9" name="Text 6"/>
          <p:cNvSpPr/>
          <p:nvPr/>
        </p:nvSpPr>
        <p:spPr>
          <a:xfrm>
            <a:off x="507492" y="2670048"/>
            <a:ext cx="2313432"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LEADS PLANNING</a:t>
            </a:r>
            <a:endParaRPr lang="en-US" sz="900" dirty="0"/>
          </a:p>
        </p:txBody>
      </p:sp>
      <p:sp>
        <p:nvSpPr>
          <p:cNvPr id="10" name="Shape 7"/>
          <p:cNvSpPr/>
          <p:nvPr/>
        </p:nvSpPr>
        <p:spPr>
          <a:xfrm>
            <a:off x="3232404" y="1463040"/>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11" name="Shape 8"/>
          <p:cNvSpPr/>
          <p:nvPr/>
        </p:nvSpPr>
        <p:spPr>
          <a:xfrm>
            <a:off x="3415284" y="1645920"/>
            <a:ext cx="420624" cy="420624"/>
          </a:xfrm>
          <a:prstGeom prst="ellipse">
            <a:avLst/>
          </a:prstGeom>
          <a:solidFill>
            <a:srgbClr val="00A896"/>
          </a:solidFill>
          <a:ln/>
        </p:spPr>
      </p:sp>
      <p:pic>
        <p:nvPicPr>
          <p:cNvPr id="12" name="Image 1" descr="preencoded.png">    </p:cNvPr>
          <p:cNvPicPr>
            <a:picLocks noChangeAspect="1"/>
          </p:cNvPicPr>
          <p:nvPr/>
        </p:nvPicPr>
        <p:blipFill>
          <a:blip r:embed="rId2"/>
          <a:stretch>
            <a:fillRect/>
          </a:stretch>
        </p:blipFill>
        <p:spPr>
          <a:xfrm>
            <a:off x="3524646" y="1755282"/>
            <a:ext cx="201900" cy="201900"/>
          </a:xfrm>
          <a:prstGeom prst="rect">
            <a:avLst/>
          </a:prstGeom>
        </p:spPr>
      </p:pic>
      <p:sp>
        <p:nvSpPr>
          <p:cNvPr id="13" name="Text 9"/>
          <p:cNvSpPr/>
          <p:nvPr/>
        </p:nvSpPr>
        <p:spPr>
          <a:xfrm>
            <a:off x="3945636" y="1627632"/>
            <a:ext cx="1856232" cy="457200"/>
          </a:xfrm>
          <a:prstGeom prst="rect">
            <a:avLst/>
          </a:prstGeom>
          <a:noFill/>
          <a:ln/>
        </p:spPr>
        <p:txBody>
          <a:bodyPr wrap="square" lIns="0" tIns="0" rIns="0" bIns="0" rtlCol="0" anchor="ctr"/>
          <a:lstStyle/>
          <a:p>
            <a:pPr indent="0" marL="0">
              <a:buNone/>
            </a:pPr>
            <a:r>
              <a:rPr lang="en-US" sz="1350" b="1" dirty="0">
                <a:solidFill>
                  <a:srgbClr val="1E2E30"/>
                </a:solidFill>
                <a:latin typeface="Calibri" pitchFamily="34" charset="0"/>
                <a:ea typeface="Calibri" pitchFamily="34" charset="-122"/>
                <a:cs typeface="Calibri" pitchFamily="34" charset="-120"/>
              </a:rPr>
              <a:t>Business Analyst</a:t>
            </a:r>
            <a:endParaRPr lang="en-US" sz="1350" dirty="0"/>
          </a:p>
        </p:txBody>
      </p:sp>
      <p:sp>
        <p:nvSpPr>
          <p:cNvPr id="14" name="Text 10"/>
          <p:cNvSpPr/>
          <p:nvPr/>
        </p:nvSpPr>
        <p:spPr>
          <a:xfrm>
            <a:off x="3415284" y="2157984"/>
            <a:ext cx="2313432" cy="530352"/>
          </a:xfrm>
          <a:prstGeom prst="rect">
            <a:avLst/>
          </a:prstGeom>
          <a:noFill/>
          <a:ln/>
        </p:spPr>
        <p:txBody>
          <a:bodyPr wrap="square" lIns="0" tIns="0" rIns="0" bIns="0" rtlCol="0" anchor="t"/>
          <a:lstStyle/>
          <a:p>
            <a:pPr indent="0" marL="0">
              <a:buNone/>
            </a:pPr>
            <a:r>
              <a:rPr lang="en-US" sz="1100" dirty="0">
                <a:solidFill>
                  <a:srgbClr val="1E2E30"/>
                </a:solidFill>
                <a:latin typeface="Calibri" pitchFamily="34" charset="0"/>
                <a:ea typeface="Calibri" pitchFamily="34" charset="-122"/>
                <a:cs typeface="Calibri" pitchFamily="34" charset="-120"/>
              </a:rPr>
              <a:t>Talks to users and turns their needs into clear requirements.</a:t>
            </a:r>
            <a:endParaRPr lang="en-US" sz="1100" dirty="0"/>
          </a:p>
        </p:txBody>
      </p:sp>
      <p:sp>
        <p:nvSpPr>
          <p:cNvPr id="15" name="Text 11"/>
          <p:cNvSpPr/>
          <p:nvPr/>
        </p:nvSpPr>
        <p:spPr>
          <a:xfrm>
            <a:off x="3415284" y="2670048"/>
            <a:ext cx="2313432"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LEADS REQUIREMENTS</a:t>
            </a:r>
            <a:endParaRPr lang="en-US" sz="900" dirty="0"/>
          </a:p>
        </p:txBody>
      </p:sp>
      <p:sp>
        <p:nvSpPr>
          <p:cNvPr id="16" name="Shape 12"/>
          <p:cNvSpPr/>
          <p:nvPr/>
        </p:nvSpPr>
        <p:spPr>
          <a:xfrm>
            <a:off x="6140196" y="1463040"/>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17" name="Shape 13"/>
          <p:cNvSpPr/>
          <p:nvPr/>
        </p:nvSpPr>
        <p:spPr>
          <a:xfrm>
            <a:off x="6323076" y="1645920"/>
            <a:ext cx="420624" cy="420624"/>
          </a:xfrm>
          <a:prstGeom prst="ellipse">
            <a:avLst/>
          </a:prstGeom>
          <a:solidFill>
            <a:srgbClr val="00A896"/>
          </a:solidFill>
          <a:ln/>
        </p:spPr>
      </p:sp>
      <p:pic>
        <p:nvPicPr>
          <p:cNvPr id="18" name="Image 2" descr="preencoded.png">    </p:cNvPr>
          <p:cNvPicPr>
            <a:picLocks noChangeAspect="1"/>
          </p:cNvPicPr>
          <p:nvPr/>
        </p:nvPicPr>
        <p:blipFill>
          <a:blip r:embed="rId3"/>
          <a:stretch>
            <a:fillRect/>
          </a:stretch>
        </p:blipFill>
        <p:spPr>
          <a:xfrm>
            <a:off x="6432438" y="1755282"/>
            <a:ext cx="201900" cy="201900"/>
          </a:xfrm>
          <a:prstGeom prst="rect">
            <a:avLst/>
          </a:prstGeom>
        </p:spPr>
      </p:pic>
      <p:sp>
        <p:nvSpPr>
          <p:cNvPr id="19" name="Text 14"/>
          <p:cNvSpPr/>
          <p:nvPr/>
        </p:nvSpPr>
        <p:spPr>
          <a:xfrm>
            <a:off x="6853428" y="1627632"/>
            <a:ext cx="1856232" cy="457200"/>
          </a:xfrm>
          <a:prstGeom prst="rect">
            <a:avLst/>
          </a:prstGeom>
          <a:noFill/>
          <a:ln/>
        </p:spPr>
        <p:txBody>
          <a:bodyPr wrap="square" lIns="0" tIns="0" rIns="0" bIns="0" rtlCol="0" anchor="ctr"/>
          <a:lstStyle/>
          <a:p>
            <a:pPr indent="0" marL="0">
              <a:buNone/>
            </a:pPr>
            <a:r>
              <a:rPr lang="en-US" sz="1350" b="1" dirty="0">
                <a:solidFill>
                  <a:srgbClr val="1E2E30"/>
                </a:solidFill>
                <a:latin typeface="Calibri" pitchFamily="34" charset="0"/>
                <a:ea typeface="Calibri" pitchFamily="34" charset="-122"/>
                <a:cs typeface="Calibri" pitchFamily="34" charset="-120"/>
              </a:rPr>
              <a:t>Architect &amp; Designer</a:t>
            </a:r>
            <a:endParaRPr lang="en-US" sz="1350" dirty="0"/>
          </a:p>
        </p:txBody>
      </p:sp>
      <p:sp>
        <p:nvSpPr>
          <p:cNvPr id="20" name="Text 15"/>
          <p:cNvSpPr/>
          <p:nvPr/>
        </p:nvSpPr>
        <p:spPr>
          <a:xfrm>
            <a:off x="6323076" y="2157984"/>
            <a:ext cx="2313432" cy="530352"/>
          </a:xfrm>
          <a:prstGeom prst="rect">
            <a:avLst/>
          </a:prstGeom>
          <a:noFill/>
          <a:ln/>
        </p:spPr>
        <p:txBody>
          <a:bodyPr wrap="square" lIns="0" tIns="0" rIns="0" bIns="0" rtlCol="0" anchor="t"/>
          <a:lstStyle/>
          <a:p>
            <a:pPr indent="0" marL="0">
              <a:buNone/>
            </a:pPr>
            <a:r>
              <a:rPr lang="en-US" sz="1100" dirty="0">
                <a:solidFill>
                  <a:srgbClr val="1E2E30"/>
                </a:solidFill>
                <a:latin typeface="Calibri" pitchFamily="34" charset="0"/>
                <a:ea typeface="Calibri" pitchFamily="34" charset="-122"/>
                <a:cs typeface="Calibri" pitchFamily="34" charset="-120"/>
              </a:rPr>
              <a:t>Shapes the system structure and designs the user experience.</a:t>
            </a:r>
            <a:endParaRPr lang="en-US" sz="1100" dirty="0"/>
          </a:p>
        </p:txBody>
      </p:sp>
      <p:sp>
        <p:nvSpPr>
          <p:cNvPr id="21" name="Text 16"/>
          <p:cNvSpPr/>
          <p:nvPr/>
        </p:nvSpPr>
        <p:spPr>
          <a:xfrm>
            <a:off x="6323076" y="2670048"/>
            <a:ext cx="2313432"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LEADS DESIGN</a:t>
            </a:r>
            <a:endParaRPr lang="en-US" sz="900" dirty="0"/>
          </a:p>
        </p:txBody>
      </p:sp>
      <p:sp>
        <p:nvSpPr>
          <p:cNvPr id="22" name="Shape 17"/>
          <p:cNvSpPr/>
          <p:nvPr/>
        </p:nvSpPr>
        <p:spPr>
          <a:xfrm>
            <a:off x="324612" y="3200400"/>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23" name="Shape 18"/>
          <p:cNvSpPr/>
          <p:nvPr/>
        </p:nvSpPr>
        <p:spPr>
          <a:xfrm>
            <a:off x="507492" y="3383280"/>
            <a:ext cx="420624" cy="420624"/>
          </a:xfrm>
          <a:prstGeom prst="ellipse">
            <a:avLst/>
          </a:prstGeom>
          <a:solidFill>
            <a:srgbClr val="00A896"/>
          </a:solidFill>
          <a:ln/>
        </p:spPr>
      </p:sp>
      <p:pic>
        <p:nvPicPr>
          <p:cNvPr id="24" name="Image 3" descr="preencoded.png">    </p:cNvPr>
          <p:cNvPicPr>
            <a:picLocks noChangeAspect="1"/>
          </p:cNvPicPr>
          <p:nvPr/>
        </p:nvPicPr>
        <p:blipFill>
          <a:blip r:embed="rId4"/>
          <a:stretch>
            <a:fillRect/>
          </a:stretch>
        </p:blipFill>
        <p:spPr>
          <a:xfrm>
            <a:off x="616854" y="3492642"/>
            <a:ext cx="201900" cy="201900"/>
          </a:xfrm>
          <a:prstGeom prst="rect">
            <a:avLst/>
          </a:prstGeom>
        </p:spPr>
      </p:pic>
      <p:sp>
        <p:nvSpPr>
          <p:cNvPr id="25" name="Text 19"/>
          <p:cNvSpPr/>
          <p:nvPr/>
        </p:nvSpPr>
        <p:spPr>
          <a:xfrm>
            <a:off x="1037844" y="3364992"/>
            <a:ext cx="1856232" cy="457200"/>
          </a:xfrm>
          <a:prstGeom prst="rect">
            <a:avLst/>
          </a:prstGeom>
          <a:noFill/>
          <a:ln/>
        </p:spPr>
        <p:txBody>
          <a:bodyPr wrap="square" lIns="0" tIns="0" rIns="0" bIns="0" rtlCol="0" anchor="ctr"/>
          <a:lstStyle/>
          <a:p>
            <a:pPr indent="0" marL="0">
              <a:buNone/>
            </a:pPr>
            <a:r>
              <a:rPr lang="en-US" sz="1350" b="1" dirty="0">
                <a:solidFill>
                  <a:srgbClr val="1E2E30"/>
                </a:solidFill>
                <a:latin typeface="Calibri" pitchFamily="34" charset="0"/>
                <a:ea typeface="Calibri" pitchFamily="34" charset="-122"/>
                <a:cs typeface="Calibri" pitchFamily="34" charset="-120"/>
              </a:rPr>
              <a:t>Developer</a:t>
            </a:r>
            <a:endParaRPr lang="en-US" sz="1350" dirty="0"/>
          </a:p>
        </p:txBody>
      </p:sp>
      <p:sp>
        <p:nvSpPr>
          <p:cNvPr id="26" name="Text 20"/>
          <p:cNvSpPr/>
          <p:nvPr/>
        </p:nvSpPr>
        <p:spPr>
          <a:xfrm>
            <a:off x="507492" y="3895344"/>
            <a:ext cx="2313432" cy="530352"/>
          </a:xfrm>
          <a:prstGeom prst="rect">
            <a:avLst/>
          </a:prstGeom>
          <a:noFill/>
          <a:ln/>
        </p:spPr>
        <p:txBody>
          <a:bodyPr wrap="square" lIns="0" tIns="0" rIns="0" bIns="0" rtlCol="0" anchor="t"/>
          <a:lstStyle/>
          <a:p>
            <a:pPr indent="0" marL="0">
              <a:buNone/>
            </a:pPr>
            <a:r>
              <a:rPr lang="en-US" sz="1100" dirty="0">
                <a:solidFill>
                  <a:srgbClr val="1E2E30"/>
                </a:solidFill>
                <a:latin typeface="Calibri" pitchFamily="34" charset="0"/>
                <a:ea typeface="Calibri" pitchFamily="34" charset="-122"/>
                <a:cs typeface="Calibri" pitchFamily="34" charset="-120"/>
              </a:rPr>
              <a:t>Writes, reviews and fixes the code that powers the product.</a:t>
            </a:r>
            <a:endParaRPr lang="en-US" sz="1100" dirty="0"/>
          </a:p>
        </p:txBody>
      </p:sp>
      <p:sp>
        <p:nvSpPr>
          <p:cNvPr id="27" name="Text 21"/>
          <p:cNvSpPr/>
          <p:nvPr/>
        </p:nvSpPr>
        <p:spPr>
          <a:xfrm>
            <a:off x="507492" y="4407408"/>
            <a:ext cx="2313432"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LEADS DEVELOPMENT</a:t>
            </a:r>
            <a:endParaRPr lang="en-US" sz="900" dirty="0"/>
          </a:p>
        </p:txBody>
      </p:sp>
      <p:sp>
        <p:nvSpPr>
          <p:cNvPr id="28" name="Shape 22"/>
          <p:cNvSpPr/>
          <p:nvPr/>
        </p:nvSpPr>
        <p:spPr>
          <a:xfrm>
            <a:off x="3232404" y="3200400"/>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29" name="Shape 23"/>
          <p:cNvSpPr/>
          <p:nvPr/>
        </p:nvSpPr>
        <p:spPr>
          <a:xfrm>
            <a:off x="3415284" y="3383280"/>
            <a:ext cx="420624" cy="420624"/>
          </a:xfrm>
          <a:prstGeom prst="ellipse">
            <a:avLst/>
          </a:prstGeom>
          <a:solidFill>
            <a:srgbClr val="00A896"/>
          </a:solidFill>
          <a:ln/>
        </p:spPr>
      </p:sp>
      <p:pic>
        <p:nvPicPr>
          <p:cNvPr id="30" name="Image 4" descr="preencoded.png">    </p:cNvPr>
          <p:cNvPicPr>
            <a:picLocks noChangeAspect="1"/>
          </p:cNvPicPr>
          <p:nvPr/>
        </p:nvPicPr>
        <p:blipFill>
          <a:blip r:embed="rId5"/>
          <a:stretch>
            <a:fillRect/>
          </a:stretch>
        </p:blipFill>
        <p:spPr>
          <a:xfrm>
            <a:off x="3524646" y="3492642"/>
            <a:ext cx="201900" cy="201900"/>
          </a:xfrm>
          <a:prstGeom prst="rect">
            <a:avLst/>
          </a:prstGeom>
        </p:spPr>
      </p:pic>
      <p:sp>
        <p:nvSpPr>
          <p:cNvPr id="31" name="Text 24"/>
          <p:cNvSpPr/>
          <p:nvPr/>
        </p:nvSpPr>
        <p:spPr>
          <a:xfrm>
            <a:off x="3945636" y="3364992"/>
            <a:ext cx="1856232" cy="457200"/>
          </a:xfrm>
          <a:prstGeom prst="rect">
            <a:avLst/>
          </a:prstGeom>
          <a:noFill/>
          <a:ln/>
        </p:spPr>
        <p:txBody>
          <a:bodyPr wrap="square" lIns="0" tIns="0" rIns="0" bIns="0" rtlCol="0" anchor="ctr"/>
          <a:lstStyle/>
          <a:p>
            <a:pPr indent="0" marL="0">
              <a:buNone/>
            </a:pPr>
            <a:r>
              <a:rPr lang="en-US" sz="1350" b="1" dirty="0">
                <a:solidFill>
                  <a:srgbClr val="1E2E30"/>
                </a:solidFill>
                <a:latin typeface="Calibri" pitchFamily="34" charset="0"/>
                <a:ea typeface="Calibri" pitchFamily="34" charset="-122"/>
                <a:cs typeface="Calibri" pitchFamily="34" charset="-120"/>
              </a:rPr>
              <a:t>QA Engineer</a:t>
            </a:r>
            <a:endParaRPr lang="en-US" sz="1350" dirty="0"/>
          </a:p>
        </p:txBody>
      </p:sp>
      <p:sp>
        <p:nvSpPr>
          <p:cNvPr id="32" name="Text 25"/>
          <p:cNvSpPr/>
          <p:nvPr/>
        </p:nvSpPr>
        <p:spPr>
          <a:xfrm>
            <a:off x="3415284" y="3895344"/>
            <a:ext cx="2313432" cy="530352"/>
          </a:xfrm>
          <a:prstGeom prst="rect">
            <a:avLst/>
          </a:prstGeom>
          <a:noFill/>
          <a:ln/>
        </p:spPr>
        <p:txBody>
          <a:bodyPr wrap="square" lIns="0" tIns="0" rIns="0" bIns="0" rtlCol="0" anchor="t"/>
          <a:lstStyle/>
          <a:p>
            <a:pPr indent="0" marL="0">
              <a:buNone/>
            </a:pPr>
            <a:r>
              <a:rPr lang="en-US" sz="1100" dirty="0">
                <a:solidFill>
                  <a:srgbClr val="1E2E30"/>
                </a:solidFill>
                <a:latin typeface="Calibri" pitchFamily="34" charset="0"/>
                <a:ea typeface="Calibri" pitchFamily="34" charset="-122"/>
                <a:cs typeface="Calibri" pitchFamily="34" charset="-120"/>
              </a:rPr>
              <a:t>Designs tests, hunts bugs and guards product quality.</a:t>
            </a:r>
            <a:endParaRPr lang="en-US" sz="1100" dirty="0"/>
          </a:p>
        </p:txBody>
      </p:sp>
      <p:sp>
        <p:nvSpPr>
          <p:cNvPr id="33" name="Text 26"/>
          <p:cNvSpPr/>
          <p:nvPr/>
        </p:nvSpPr>
        <p:spPr>
          <a:xfrm>
            <a:off x="3415284" y="4407408"/>
            <a:ext cx="2313432"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LEADS TESTING</a:t>
            </a:r>
            <a:endParaRPr lang="en-US" sz="900" dirty="0"/>
          </a:p>
        </p:txBody>
      </p:sp>
      <p:sp>
        <p:nvSpPr>
          <p:cNvPr id="34" name="Shape 27"/>
          <p:cNvSpPr/>
          <p:nvPr/>
        </p:nvSpPr>
        <p:spPr>
          <a:xfrm>
            <a:off x="6140196" y="3200400"/>
            <a:ext cx="2679192" cy="1481328"/>
          </a:xfrm>
          <a:prstGeom prst="roundRect">
            <a:avLst>
              <a:gd name="adj" fmla="val 4938"/>
            </a:avLst>
          </a:prstGeom>
          <a:solidFill>
            <a:srgbClr val="F4FAF9"/>
          </a:solidFill>
          <a:ln/>
          <a:effectLst>
            <a:outerShdw sx="100000" sy="100000" kx="0" ky="0" algn="bl" rotWithShape="0" blurRad="88900" dist="25400" dir="2700000">
              <a:srgbClr val="000000">
                <a:alpha val="14000"/>
              </a:srgbClr>
            </a:outerShdw>
          </a:effectLst>
        </p:spPr>
      </p:sp>
      <p:sp>
        <p:nvSpPr>
          <p:cNvPr id="35" name="Shape 28"/>
          <p:cNvSpPr/>
          <p:nvPr/>
        </p:nvSpPr>
        <p:spPr>
          <a:xfrm>
            <a:off x="6323076" y="3383280"/>
            <a:ext cx="420624" cy="420624"/>
          </a:xfrm>
          <a:prstGeom prst="ellipse">
            <a:avLst/>
          </a:prstGeom>
          <a:solidFill>
            <a:srgbClr val="00A896"/>
          </a:solidFill>
          <a:ln/>
        </p:spPr>
      </p:sp>
      <p:pic>
        <p:nvPicPr>
          <p:cNvPr id="36" name="Image 5" descr="preencoded.png">    </p:cNvPr>
          <p:cNvPicPr>
            <a:picLocks noChangeAspect="1"/>
          </p:cNvPicPr>
          <p:nvPr/>
        </p:nvPicPr>
        <p:blipFill>
          <a:blip r:embed="rId6"/>
          <a:stretch>
            <a:fillRect/>
          </a:stretch>
        </p:blipFill>
        <p:spPr>
          <a:xfrm>
            <a:off x="6432438" y="3492642"/>
            <a:ext cx="201900" cy="201900"/>
          </a:xfrm>
          <a:prstGeom prst="rect">
            <a:avLst/>
          </a:prstGeom>
        </p:spPr>
      </p:pic>
      <p:sp>
        <p:nvSpPr>
          <p:cNvPr id="37" name="Text 29"/>
          <p:cNvSpPr/>
          <p:nvPr/>
        </p:nvSpPr>
        <p:spPr>
          <a:xfrm>
            <a:off x="6853428" y="3364992"/>
            <a:ext cx="1856232" cy="457200"/>
          </a:xfrm>
          <a:prstGeom prst="rect">
            <a:avLst/>
          </a:prstGeom>
          <a:noFill/>
          <a:ln/>
        </p:spPr>
        <p:txBody>
          <a:bodyPr wrap="square" lIns="0" tIns="0" rIns="0" bIns="0" rtlCol="0" anchor="ctr"/>
          <a:lstStyle/>
          <a:p>
            <a:pPr indent="0" marL="0">
              <a:buNone/>
            </a:pPr>
            <a:r>
              <a:rPr lang="en-US" sz="1350" b="1" dirty="0">
                <a:solidFill>
                  <a:srgbClr val="1E2E30"/>
                </a:solidFill>
                <a:latin typeface="Calibri" pitchFamily="34" charset="0"/>
                <a:ea typeface="Calibri" pitchFamily="34" charset="-122"/>
                <a:cs typeface="Calibri" pitchFamily="34" charset="-120"/>
              </a:rPr>
              <a:t>DevOps &amp; Support</a:t>
            </a:r>
            <a:endParaRPr lang="en-US" sz="1350" dirty="0"/>
          </a:p>
        </p:txBody>
      </p:sp>
      <p:sp>
        <p:nvSpPr>
          <p:cNvPr id="38" name="Text 30"/>
          <p:cNvSpPr/>
          <p:nvPr/>
        </p:nvSpPr>
        <p:spPr>
          <a:xfrm>
            <a:off x="6323076" y="3895344"/>
            <a:ext cx="2313432" cy="530352"/>
          </a:xfrm>
          <a:prstGeom prst="rect">
            <a:avLst/>
          </a:prstGeom>
          <a:noFill/>
          <a:ln/>
        </p:spPr>
        <p:txBody>
          <a:bodyPr wrap="square" lIns="0" tIns="0" rIns="0" bIns="0" rtlCol="0" anchor="t"/>
          <a:lstStyle/>
          <a:p>
            <a:pPr indent="0" marL="0">
              <a:buNone/>
            </a:pPr>
            <a:r>
              <a:rPr lang="en-US" sz="1100" dirty="0">
                <a:solidFill>
                  <a:srgbClr val="1E2E30"/>
                </a:solidFill>
                <a:latin typeface="Calibri" pitchFamily="34" charset="0"/>
                <a:ea typeface="Calibri" pitchFamily="34" charset="-122"/>
                <a:cs typeface="Calibri" pitchFamily="34" charset="-120"/>
              </a:rPr>
              <a:t>Releases the software, keeps servers healthy, helps users.</a:t>
            </a:r>
            <a:endParaRPr lang="en-US" sz="1100" dirty="0"/>
          </a:p>
        </p:txBody>
      </p:sp>
      <p:sp>
        <p:nvSpPr>
          <p:cNvPr id="39" name="Text 31"/>
          <p:cNvSpPr/>
          <p:nvPr/>
        </p:nvSpPr>
        <p:spPr>
          <a:xfrm>
            <a:off x="6323076" y="4407408"/>
            <a:ext cx="2313432"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LEADS DEPLOY &amp; MAINTAIN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Case study: a food delivery app</a:t>
            </a:r>
            <a:endParaRPr lang="en-US" sz="3200" dirty="0"/>
          </a:p>
        </p:txBody>
      </p:sp>
      <p:sp>
        <p:nvSpPr>
          <p:cNvPr id="4" name="Shape 2"/>
          <p:cNvSpPr/>
          <p:nvPr/>
        </p:nvSpPr>
        <p:spPr>
          <a:xfrm>
            <a:off x="8138160" y="384048"/>
            <a:ext cx="548640" cy="54864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8280806" y="526694"/>
            <a:ext cx="263347" cy="263347"/>
          </a:xfrm>
          <a:prstGeom prst="rect">
            <a:avLst/>
          </a:prstGeom>
        </p:spPr>
      </p:pic>
      <p:sp>
        <p:nvSpPr>
          <p:cNvPr id="6" name="Shape 3"/>
          <p:cNvSpPr/>
          <p:nvPr/>
        </p:nvSpPr>
        <p:spPr>
          <a:xfrm>
            <a:off x="457200" y="1408176"/>
            <a:ext cx="1691640" cy="365760"/>
          </a:xfrm>
          <a:prstGeom prst="roundRect">
            <a:avLst>
              <a:gd name="adj" fmla="val 17500"/>
            </a:avLst>
          </a:prstGeom>
          <a:solidFill>
            <a:srgbClr val="05343C"/>
          </a:solidFill>
          <a:ln/>
        </p:spPr>
      </p:sp>
      <p:sp>
        <p:nvSpPr>
          <p:cNvPr id="7" name="Text 4"/>
          <p:cNvSpPr/>
          <p:nvPr/>
        </p:nvSpPr>
        <p:spPr>
          <a:xfrm>
            <a:off x="457200" y="1408176"/>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 Planning</a:t>
            </a:r>
            <a:endParaRPr lang="en-US" sz="1150" dirty="0"/>
          </a:p>
        </p:txBody>
      </p:sp>
      <p:sp>
        <p:nvSpPr>
          <p:cNvPr id="8" name="Text 5"/>
          <p:cNvSpPr/>
          <p:nvPr/>
        </p:nvSpPr>
        <p:spPr>
          <a:xfrm>
            <a:off x="2331720" y="13716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A startup spots a gap: no late-night food delivery in town. Budget: 6 months, small team.</a:t>
            </a:r>
            <a:endParaRPr lang="en-US" sz="1200" dirty="0"/>
          </a:p>
        </p:txBody>
      </p:sp>
      <p:sp>
        <p:nvSpPr>
          <p:cNvPr id="9" name="Shape 6"/>
          <p:cNvSpPr/>
          <p:nvPr/>
        </p:nvSpPr>
        <p:spPr>
          <a:xfrm>
            <a:off x="457200" y="1865376"/>
            <a:ext cx="1691640" cy="365760"/>
          </a:xfrm>
          <a:prstGeom prst="roundRect">
            <a:avLst>
              <a:gd name="adj" fmla="val 17500"/>
            </a:avLst>
          </a:prstGeom>
          <a:solidFill>
            <a:srgbClr val="E9F5F5"/>
          </a:solidFill>
          <a:ln/>
        </p:spPr>
      </p:sp>
      <p:sp>
        <p:nvSpPr>
          <p:cNvPr id="10" name="Text 7"/>
          <p:cNvSpPr/>
          <p:nvPr/>
        </p:nvSpPr>
        <p:spPr>
          <a:xfrm>
            <a:off x="457200" y="1865376"/>
            <a:ext cx="1691640" cy="365760"/>
          </a:xfrm>
          <a:prstGeom prst="rect">
            <a:avLst/>
          </a:prstGeom>
          <a:noFill/>
          <a:ln/>
        </p:spPr>
        <p:txBody>
          <a:bodyPr wrap="square" lIns="0" tIns="0" rIns="0" bIns="0" rtlCol="0" anchor="ctr"/>
          <a:lstStyle/>
          <a:p>
            <a:pPr algn="ctr" indent="0" marL="0">
              <a:buNone/>
            </a:pPr>
            <a:r>
              <a:rPr lang="en-US" sz="1150" b="1" dirty="0">
                <a:solidFill>
                  <a:srgbClr val="1E2E30"/>
                </a:solidFill>
                <a:latin typeface="Calibri" pitchFamily="34" charset="0"/>
                <a:ea typeface="Calibri" pitchFamily="34" charset="-122"/>
                <a:cs typeface="Calibri" pitchFamily="34" charset="-120"/>
              </a:rPr>
              <a:t>2. Requirements</a:t>
            </a:r>
            <a:endParaRPr lang="en-US" sz="1150" dirty="0"/>
          </a:p>
        </p:txBody>
      </p:sp>
      <p:sp>
        <p:nvSpPr>
          <p:cNvPr id="11" name="Text 8"/>
          <p:cNvSpPr/>
          <p:nvPr/>
        </p:nvSpPr>
        <p:spPr>
          <a:xfrm>
            <a:off x="2331720" y="18288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Interviews reveal must-haves: browse menus, track orders live, pay online securely.</a:t>
            </a:r>
            <a:endParaRPr lang="en-US" sz="1200" dirty="0"/>
          </a:p>
        </p:txBody>
      </p:sp>
      <p:sp>
        <p:nvSpPr>
          <p:cNvPr id="12" name="Shape 9"/>
          <p:cNvSpPr/>
          <p:nvPr/>
        </p:nvSpPr>
        <p:spPr>
          <a:xfrm>
            <a:off x="457200" y="2322576"/>
            <a:ext cx="1691640" cy="365760"/>
          </a:xfrm>
          <a:prstGeom prst="roundRect">
            <a:avLst>
              <a:gd name="adj" fmla="val 17500"/>
            </a:avLst>
          </a:prstGeom>
          <a:solidFill>
            <a:srgbClr val="05343C"/>
          </a:solidFill>
          <a:ln/>
        </p:spPr>
      </p:sp>
      <p:sp>
        <p:nvSpPr>
          <p:cNvPr id="13" name="Text 10"/>
          <p:cNvSpPr/>
          <p:nvPr/>
        </p:nvSpPr>
        <p:spPr>
          <a:xfrm>
            <a:off x="457200" y="2322576"/>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 Design</a:t>
            </a:r>
            <a:endParaRPr lang="en-US" sz="1150" dirty="0"/>
          </a:p>
        </p:txBody>
      </p:sp>
      <p:sp>
        <p:nvSpPr>
          <p:cNvPr id="14" name="Text 11"/>
          <p:cNvSpPr/>
          <p:nvPr/>
        </p:nvSpPr>
        <p:spPr>
          <a:xfrm>
            <a:off x="2331720" y="22860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Designers sketch the app screens; architects plan the app, server and database structure.</a:t>
            </a:r>
            <a:endParaRPr lang="en-US" sz="1200" dirty="0"/>
          </a:p>
        </p:txBody>
      </p:sp>
      <p:sp>
        <p:nvSpPr>
          <p:cNvPr id="15" name="Shape 12"/>
          <p:cNvSpPr/>
          <p:nvPr/>
        </p:nvSpPr>
        <p:spPr>
          <a:xfrm>
            <a:off x="457200" y="2779776"/>
            <a:ext cx="1691640" cy="365760"/>
          </a:xfrm>
          <a:prstGeom prst="roundRect">
            <a:avLst>
              <a:gd name="adj" fmla="val 17500"/>
            </a:avLst>
          </a:prstGeom>
          <a:solidFill>
            <a:srgbClr val="E9F5F5"/>
          </a:solidFill>
          <a:ln/>
        </p:spPr>
      </p:sp>
      <p:sp>
        <p:nvSpPr>
          <p:cNvPr id="16" name="Text 13"/>
          <p:cNvSpPr/>
          <p:nvPr/>
        </p:nvSpPr>
        <p:spPr>
          <a:xfrm>
            <a:off x="457200" y="2779776"/>
            <a:ext cx="1691640" cy="365760"/>
          </a:xfrm>
          <a:prstGeom prst="rect">
            <a:avLst/>
          </a:prstGeom>
          <a:noFill/>
          <a:ln/>
        </p:spPr>
        <p:txBody>
          <a:bodyPr wrap="square" lIns="0" tIns="0" rIns="0" bIns="0" rtlCol="0" anchor="ctr"/>
          <a:lstStyle/>
          <a:p>
            <a:pPr algn="ctr" indent="0" marL="0">
              <a:buNone/>
            </a:pPr>
            <a:r>
              <a:rPr lang="en-US" sz="1150" b="1" dirty="0">
                <a:solidFill>
                  <a:srgbClr val="1E2E30"/>
                </a:solidFill>
                <a:latin typeface="Calibri" pitchFamily="34" charset="0"/>
                <a:ea typeface="Calibri" pitchFamily="34" charset="-122"/>
                <a:cs typeface="Calibri" pitchFamily="34" charset="-120"/>
              </a:rPr>
              <a:t>4. Development</a:t>
            </a:r>
            <a:endParaRPr lang="en-US" sz="1150" dirty="0"/>
          </a:p>
        </p:txBody>
      </p:sp>
      <p:sp>
        <p:nvSpPr>
          <p:cNvPr id="17" name="Text 14"/>
          <p:cNvSpPr/>
          <p:nvPr/>
        </p:nvSpPr>
        <p:spPr>
          <a:xfrm>
            <a:off x="2331720" y="27432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Developers code the app in 2-week sprints — menus first, then ordering, then payments.</a:t>
            </a:r>
            <a:endParaRPr lang="en-US" sz="1200" dirty="0"/>
          </a:p>
        </p:txBody>
      </p:sp>
      <p:sp>
        <p:nvSpPr>
          <p:cNvPr id="18" name="Shape 15"/>
          <p:cNvSpPr/>
          <p:nvPr/>
        </p:nvSpPr>
        <p:spPr>
          <a:xfrm>
            <a:off x="457200" y="3236976"/>
            <a:ext cx="1691640" cy="365760"/>
          </a:xfrm>
          <a:prstGeom prst="roundRect">
            <a:avLst>
              <a:gd name="adj" fmla="val 17500"/>
            </a:avLst>
          </a:prstGeom>
          <a:solidFill>
            <a:srgbClr val="05343C"/>
          </a:solidFill>
          <a:ln/>
        </p:spPr>
      </p:sp>
      <p:sp>
        <p:nvSpPr>
          <p:cNvPr id="19" name="Text 16"/>
          <p:cNvSpPr/>
          <p:nvPr/>
        </p:nvSpPr>
        <p:spPr>
          <a:xfrm>
            <a:off x="457200" y="3236976"/>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 Testing</a:t>
            </a:r>
            <a:endParaRPr lang="en-US" sz="1150" dirty="0"/>
          </a:p>
        </p:txBody>
      </p:sp>
      <p:sp>
        <p:nvSpPr>
          <p:cNvPr id="20" name="Text 17"/>
          <p:cNvSpPr/>
          <p:nvPr/>
        </p:nvSpPr>
        <p:spPr>
          <a:xfrm>
            <a:off x="2331720" y="32004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QA finds that orders fail on slow networks; developers fix it and testers re-verify.</a:t>
            </a:r>
            <a:endParaRPr lang="en-US" sz="1200" dirty="0"/>
          </a:p>
        </p:txBody>
      </p:sp>
      <p:sp>
        <p:nvSpPr>
          <p:cNvPr id="21" name="Shape 18"/>
          <p:cNvSpPr/>
          <p:nvPr/>
        </p:nvSpPr>
        <p:spPr>
          <a:xfrm>
            <a:off x="457200" y="3694176"/>
            <a:ext cx="1691640" cy="365760"/>
          </a:xfrm>
          <a:prstGeom prst="roundRect">
            <a:avLst>
              <a:gd name="adj" fmla="val 17500"/>
            </a:avLst>
          </a:prstGeom>
          <a:solidFill>
            <a:srgbClr val="E9F5F5"/>
          </a:solidFill>
          <a:ln/>
        </p:spPr>
      </p:sp>
      <p:sp>
        <p:nvSpPr>
          <p:cNvPr id="22" name="Text 19"/>
          <p:cNvSpPr/>
          <p:nvPr/>
        </p:nvSpPr>
        <p:spPr>
          <a:xfrm>
            <a:off x="457200" y="3694176"/>
            <a:ext cx="1691640" cy="365760"/>
          </a:xfrm>
          <a:prstGeom prst="rect">
            <a:avLst/>
          </a:prstGeom>
          <a:noFill/>
          <a:ln/>
        </p:spPr>
        <p:txBody>
          <a:bodyPr wrap="square" lIns="0" tIns="0" rIns="0" bIns="0" rtlCol="0" anchor="ctr"/>
          <a:lstStyle/>
          <a:p>
            <a:pPr algn="ctr" indent="0" marL="0">
              <a:buNone/>
            </a:pPr>
            <a:r>
              <a:rPr lang="en-US" sz="1150" b="1" dirty="0">
                <a:solidFill>
                  <a:srgbClr val="1E2E30"/>
                </a:solidFill>
                <a:latin typeface="Calibri" pitchFamily="34" charset="0"/>
                <a:ea typeface="Calibri" pitchFamily="34" charset="-122"/>
                <a:cs typeface="Calibri" pitchFamily="34" charset="-120"/>
              </a:rPr>
              <a:t>6. Deployment</a:t>
            </a:r>
            <a:endParaRPr lang="en-US" sz="1150" dirty="0"/>
          </a:p>
        </p:txBody>
      </p:sp>
      <p:sp>
        <p:nvSpPr>
          <p:cNvPr id="23" name="Text 20"/>
          <p:cNvSpPr/>
          <p:nvPr/>
        </p:nvSpPr>
        <p:spPr>
          <a:xfrm>
            <a:off x="2331720" y="36576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Launch to one neighbourhood first, monitor for a week, then roll out city-wide.</a:t>
            </a:r>
            <a:endParaRPr lang="en-US" sz="1200" dirty="0"/>
          </a:p>
        </p:txBody>
      </p:sp>
      <p:sp>
        <p:nvSpPr>
          <p:cNvPr id="24" name="Shape 21"/>
          <p:cNvSpPr/>
          <p:nvPr/>
        </p:nvSpPr>
        <p:spPr>
          <a:xfrm>
            <a:off x="457200" y="4151376"/>
            <a:ext cx="1691640" cy="365760"/>
          </a:xfrm>
          <a:prstGeom prst="roundRect">
            <a:avLst>
              <a:gd name="adj" fmla="val 17500"/>
            </a:avLst>
          </a:prstGeom>
          <a:solidFill>
            <a:srgbClr val="05343C"/>
          </a:solidFill>
          <a:ln/>
        </p:spPr>
      </p:sp>
      <p:sp>
        <p:nvSpPr>
          <p:cNvPr id="25" name="Text 22"/>
          <p:cNvSpPr/>
          <p:nvPr/>
        </p:nvSpPr>
        <p:spPr>
          <a:xfrm>
            <a:off x="457200" y="4151376"/>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 Maintenance</a:t>
            </a:r>
            <a:endParaRPr lang="en-US" sz="1150" dirty="0"/>
          </a:p>
        </p:txBody>
      </p:sp>
      <p:sp>
        <p:nvSpPr>
          <p:cNvPr id="26" name="Text 23"/>
          <p:cNvSpPr/>
          <p:nvPr/>
        </p:nvSpPr>
        <p:spPr>
          <a:xfrm>
            <a:off x="2331720" y="4114800"/>
            <a:ext cx="6400800" cy="457200"/>
          </a:xfrm>
          <a:prstGeom prst="rect">
            <a:avLst/>
          </a:prstGeom>
          <a:noFill/>
          <a:ln/>
        </p:spPr>
        <p:txBody>
          <a:bodyPr wrap="square" lIns="0" tIns="0" rIns="0" bIns="0" rtlCol="0" anchor="ctr"/>
          <a:lstStyle/>
          <a:p>
            <a:pPr indent="0" marL="0">
              <a:buNone/>
            </a:pPr>
            <a:r>
              <a:rPr lang="en-US" sz="1200" dirty="0">
                <a:solidFill>
                  <a:srgbClr val="1E2E30"/>
                </a:solidFill>
                <a:latin typeface="Calibri" pitchFamily="34" charset="0"/>
                <a:ea typeface="Calibri" pitchFamily="34" charset="-122"/>
                <a:cs typeface="Calibri" pitchFamily="34" charset="-120"/>
              </a:rPr>
              <a:t>Users ask for order scheduling; version 1.1 ships with it, plus security patches.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FIELD WISDOM</a:t>
            </a:r>
            <a:endParaRPr lang="en-US" sz="12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200" b="1" dirty="0">
                <a:solidFill>
                  <a:srgbClr val="1E2E30"/>
                </a:solidFill>
                <a:latin typeface="Cambria" pitchFamily="34" charset="0"/>
                <a:ea typeface="Cambria" pitchFamily="34" charset="-122"/>
                <a:cs typeface="Cambria" pitchFamily="34" charset="-120"/>
              </a:rPr>
              <a:t>Best practices &amp; common beginner mistakes</a:t>
            </a:r>
            <a:endParaRPr lang="en-US" sz="3200" dirty="0"/>
          </a:p>
        </p:txBody>
      </p:sp>
      <p:sp>
        <p:nvSpPr>
          <p:cNvPr id="4" name="Shape 2"/>
          <p:cNvSpPr/>
          <p:nvPr/>
        </p:nvSpPr>
        <p:spPr>
          <a:xfrm>
            <a:off x="457200" y="1417320"/>
            <a:ext cx="4023360" cy="3200400"/>
          </a:xfrm>
          <a:prstGeom prst="roundRect">
            <a:avLst>
              <a:gd name="adj" fmla="val 2571"/>
            </a:avLst>
          </a:prstGeom>
          <a:solidFill>
            <a:srgbClr val="F4FAF9"/>
          </a:solidFill>
          <a:ln/>
          <a:effectLst>
            <a:outerShdw sx="100000" sy="100000" kx="0" ky="0" algn="bl" rotWithShape="0" blurRad="88900" dist="25400" dir="2700000">
              <a:srgbClr val="000000">
                <a:alpha val="14000"/>
              </a:srgbClr>
            </a:outerShdw>
          </a:effectLst>
        </p:spPr>
      </p:sp>
      <p:pic>
        <p:nvPicPr>
          <p:cNvPr id="5" name="Image 0" descr="preencoded.png">    </p:cNvPr>
          <p:cNvPicPr>
            <a:picLocks noChangeAspect="1"/>
          </p:cNvPicPr>
          <p:nvPr/>
        </p:nvPicPr>
        <p:blipFill>
          <a:blip r:embed="rId1"/>
          <a:stretch>
            <a:fillRect/>
          </a:stretch>
        </p:blipFill>
        <p:spPr>
          <a:xfrm>
            <a:off x="731520" y="1664208"/>
            <a:ext cx="384048" cy="384048"/>
          </a:xfrm>
          <a:prstGeom prst="rect">
            <a:avLst/>
          </a:prstGeom>
        </p:spPr>
      </p:pic>
      <p:sp>
        <p:nvSpPr>
          <p:cNvPr id="6" name="Text 3"/>
          <p:cNvSpPr/>
          <p:nvPr/>
        </p:nvSpPr>
        <p:spPr>
          <a:xfrm>
            <a:off x="1280160" y="1664208"/>
            <a:ext cx="2743200" cy="384048"/>
          </a:xfrm>
          <a:prstGeom prst="rect">
            <a:avLst/>
          </a:prstGeom>
          <a:noFill/>
          <a:ln/>
        </p:spPr>
        <p:txBody>
          <a:bodyPr wrap="square" lIns="0" tIns="0" rIns="0" bIns="0" rtlCol="0" anchor="ctr"/>
          <a:lstStyle/>
          <a:p>
            <a:pPr indent="0" marL="0">
              <a:buNone/>
            </a:pPr>
            <a:r>
              <a:rPr lang="en-US" sz="1700" b="1" spc="200" kern="0" dirty="0">
                <a:solidFill>
                  <a:srgbClr val="00A896"/>
                </a:solidFill>
                <a:latin typeface="Calibri" pitchFamily="34" charset="0"/>
                <a:ea typeface="Calibri" pitchFamily="34" charset="-122"/>
                <a:cs typeface="Calibri" pitchFamily="34" charset="-120"/>
              </a:rPr>
              <a:t>DO</a:t>
            </a:r>
            <a:endParaRPr lang="en-US" sz="1700" dirty="0"/>
          </a:p>
        </p:txBody>
      </p:sp>
      <p:sp>
        <p:nvSpPr>
          <p:cNvPr id="7" name="Text 4"/>
          <p:cNvSpPr/>
          <p:nvPr/>
        </p:nvSpPr>
        <p:spPr>
          <a:xfrm>
            <a:off x="731520" y="2240280"/>
            <a:ext cx="3520440" cy="224028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1E2E30"/>
                </a:solidFill>
                <a:latin typeface="Calibri" pitchFamily="34" charset="0"/>
                <a:ea typeface="Calibri" pitchFamily="34" charset="-122"/>
                <a:cs typeface="Calibri" pitchFamily="34" charset="-120"/>
              </a:rPr>
              <a:t>Involve users early and often — feedback is gold</a:t>
            </a:r>
            <a:endParaRPr lang="en-US" sz="1250" dirty="0"/>
          </a:p>
          <a:p>
            <a:pPr marL="152400" indent="-152400">
              <a:spcAft>
                <a:spcPts val="1000"/>
              </a:spcAft>
              <a:buSzPct val="100000"/>
              <a:buChar char="•"/>
            </a:pPr>
            <a:r>
              <a:rPr lang="en-US" sz="1250" dirty="0">
                <a:solidFill>
                  <a:srgbClr val="1E2E30"/>
                </a:solidFill>
                <a:latin typeface="Calibri" pitchFamily="34" charset="0"/>
                <a:ea typeface="Calibri" pitchFamily="34" charset="-122"/>
                <a:cs typeface="Calibri" pitchFamily="34" charset="-120"/>
              </a:rPr>
              <a:t>Write requirements down; memory is not a document</a:t>
            </a:r>
            <a:endParaRPr lang="en-US" sz="1250" dirty="0"/>
          </a:p>
          <a:p>
            <a:pPr marL="152400" indent="-152400">
              <a:spcAft>
                <a:spcPts val="1000"/>
              </a:spcAft>
              <a:buSzPct val="100000"/>
              <a:buChar char="•"/>
            </a:pPr>
            <a:r>
              <a:rPr lang="en-US" sz="1250" dirty="0">
                <a:solidFill>
                  <a:srgbClr val="1E2E30"/>
                </a:solidFill>
                <a:latin typeface="Calibri" pitchFamily="34" charset="0"/>
                <a:ea typeface="Calibri" pitchFamily="34" charset="-122"/>
                <a:cs typeface="Calibri" pitchFamily="34" charset="-120"/>
              </a:rPr>
              <a:t>Test continuously, not just at the end</a:t>
            </a:r>
            <a:endParaRPr lang="en-US" sz="1250" dirty="0"/>
          </a:p>
          <a:p>
            <a:pPr marL="152400" indent="-152400">
              <a:buSzPct val="100000"/>
              <a:buChar char="•"/>
            </a:pPr>
            <a:r>
              <a:rPr lang="en-US" sz="1250" dirty="0">
                <a:solidFill>
                  <a:srgbClr val="1E2E30"/>
                </a:solidFill>
                <a:latin typeface="Calibri" pitchFamily="34" charset="0"/>
                <a:ea typeface="Calibri" pitchFamily="34" charset="-122"/>
                <a:cs typeface="Calibri" pitchFamily="34" charset="-120"/>
              </a:rPr>
              <a:t>Keep communication open across all roles</a:t>
            </a:r>
            <a:endParaRPr lang="en-US" sz="1250" dirty="0"/>
          </a:p>
        </p:txBody>
      </p:sp>
      <p:sp>
        <p:nvSpPr>
          <p:cNvPr id="8" name="Shape 5"/>
          <p:cNvSpPr/>
          <p:nvPr/>
        </p:nvSpPr>
        <p:spPr>
          <a:xfrm>
            <a:off x="4663440" y="1417320"/>
            <a:ext cx="4023360" cy="3200400"/>
          </a:xfrm>
          <a:prstGeom prst="roundRect">
            <a:avLst>
              <a:gd name="adj" fmla="val 2571"/>
            </a:avLst>
          </a:prstGeom>
          <a:solidFill>
            <a:srgbClr val="FBEFED"/>
          </a:solidFill>
          <a:ln/>
          <a:effectLst>
            <a:outerShdw sx="100000" sy="100000" kx="0" ky="0" algn="bl" rotWithShape="0" blurRad="88900" dist="25400" dir="2700000">
              <a:srgbClr val="000000">
                <a:alpha val="14000"/>
              </a:srgbClr>
            </a:outerShdw>
          </a:effectLst>
        </p:spPr>
      </p:sp>
      <p:pic>
        <p:nvPicPr>
          <p:cNvPr id="9" name="Image 1" descr="preencoded.png">    </p:cNvPr>
          <p:cNvPicPr>
            <a:picLocks noChangeAspect="1"/>
          </p:cNvPicPr>
          <p:nvPr/>
        </p:nvPicPr>
        <p:blipFill>
          <a:blip r:embed="rId2"/>
          <a:stretch>
            <a:fillRect/>
          </a:stretch>
        </p:blipFill>
        <p:spPr>
          <a:xfrm>
            <a:off x="4937760" y="1664208"/>
            <a:ext cx="384048" cy="384048"/>
          </a:xfrm>
          <a:prstGeom prst="rect">
            <a:avLst/>
          </a:prstGeom>
        </p:spPr>
      </p:pic>
      <p:sp>
        <p:nvSpPr>
          <p:cNvPr id="10" name="Text 6"/>
          <p:cNvSpPr/>
          <p:nvPr/>
        </p:nvSpPr>
        <p:spPr>
          <a:xfrm>
            <a:off x="5486400" y="1664208"/>
            <a:ext cx="2743200" cy="384048"/>
          </a:xfrm>
          <a:prstGeom prst="rect">
            <a:avLst/>
          </a:prstGeom>
          <a:noFill/>
          <a:ln/>
        </p:spPr>
        <p:txBody>
          <a:bodyPr wrap="square" lIns="0" tIns="0" rIns="0" bIns="0" rtlCol="0" anchor="ctr"/>
          <a:lstStyle/>
          <a:p>
            <a:pPr indent="0" marL="0">
              <a:buNone/>
            </a:pPr>
            <a:r>
              <a:rPr lang="en-US" sz="1700" b="1" spc="200" kern="0" dirty="0">
                <a:solidFill>
                  <a:srgbClr val="C0392B"/>
                </a:solidFill>
                <a:latin typeface="Calibri" pitchFamily="34" charset="0"/>
                <a:ea typeface="Calibri" pitchFamily="34" charset="-122"/>
                <a:cs typeface="Calibri" pitchFamily="34" charset="-120"/>
              </a:rPr>
              <a:t>DON'T</a:t>
            </a:r>
            <a:endParaRPr lang="en-US" sz="1700" dirty="0"/>
          </a:p>
        </p:txBody>
      </p:sp>
      <p:sp>
        <p:nvSpPr>
          <p:cNvPr id="11" name="Text 7"/>
          <p:cNvSpPr/>
          <p:nvPr/>
        </p:nvSpPr>
        <p:spPr>
          <a:xfrm>
            <a:off x="4937760" y="2240280"/>
            <a:ext cx="3520440" cy="224028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1E2E30"/>
                </a:solidFill>
                <a:latin typeface="Calibri" pitchFamily="34" charset="0"/>
                <a:ea typeface="Calibri" pitchFamily="34" charset="-122"/>
                <a:cs typeface="Calibri" pitchFamily="34" charset="-120"/>
              </a:rPr>
              <a:t>Jumping straight into coding with no plan</a:t>
            </a:r>
            <a:endParaRPr lang="en-US" sz="1250" dirty="0"/>
          </a:p>
          <a:p>
            <a:pPr marL="152400" indent="-152400">
              <a:spcAft>
                <a:spcPts val="1000"/>
              </a:spcAft>
              <a:buSzPct val="100000"/>
              <a:buChar char="•"/>
            </a:pPr>
            <a:r>
              <a:rPr lang="en-US" sz="1250" dirty="0">
                <a:solidFill>
                  <a:srgbClr val="1E2E30"/>
                </a:solidFill>
                <a:latin typeface="Calibri" pitchFamily="34" charset="0"/>
                <a:ea typeface="Calibri" pitchFamily="34" charset="-122"/>
                <a:cs typeface="Calibri" pitchFamily="34" charset="-120"/>
              </a:rPr>
              <a:t>Treating requirements as 'obvious' and skipping sign-off</a:t>
            </a:r>
            <a:endParaRPr lang="en-US" sz="1250" dirty="0"/>
          </a:p>
          <a:p>
            <a:pPr marL="152400" indent="-152400">
              <a:spcAft>
                <a:spcPts val="1000"/>
              </a:spcAft>
              <a:buSzPct val="100000"/>
              <a:buChar char="•"/>
            </a:pPr>
            <a:r>
              <a:rPr lang="en-US" sz="1250" dirty="0">
                <a:solidFill>
                  <a:srgbClr val="1E2E30"/>
                </a:solidFill>
                <a:latin typeface="Calibri" pitchFamily="34" charset="0"/>
                <a:ea typeface="Calibri" pitchFamily="34" charset="-122"/>
                <a:cs typeface="Calibri" pitchFamily="34" charset="-120"/>
              </a:rPr>
              <a:t>Leaving all testing to the final week</a:t>
            </a:r>
            <a:endParaRPr lang="en-US" sz="1250" dirty="0"/>
          </a:p>
          <a:p>
            <a:pPr marL="152400" indent="-152400">
              <a:buSzPct val="100000"/>
              <a:buChar char="•"/>
            </a:pPr>
            <a:r>
              <a:rPr lang="en-US" sz="1250" dirty="0">
                <a:solidFill>
                  <a:srgbClr val="1E2E30"/>
                </a:solidFill>
                <a:latin typeface="Calibri" pitchFamily="34" charset="0"/>
                <a:ea typeface="Calibri" pitchFamily="34" charset="-122"/>
                <a:cs typeface="Calibri" pitchFamily="34" charset="-120"/>
              </a:rPr>
              <a:t>Ignoring maintenance — launch is the start, not the end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343C"/>
        </a:solidFill>
      </p:bgPr>
    </p:bg>
    <p:spTree>
      <p:nvGrpSpPr>
        <p:cNvPr id="1" name=""/>
        <p:cNvGrpSpPr/>
        <p:nvPr/>
      </p:nvGrpSpPr>
      <p:grpSpPr>
        <a:xfrm>
          <a:off x="0" y="0"/>
          <a:ext cx="0" cy="0"/>
          <a:chOff x="0" y="0"/>
          <a:chExt cx="0" cy="0"/>
        </a:xfrm>
      </p:grpSpPr>
      <p:sp>
        <p:nvSpPr>
          <p:cNvPr id="2" name="Text 0"/>
          <p:cNvSpPr/>
          <p:nvPr/>
        </p:nvSpPr>
        <p:spPr>
          <a:xfrm>
            <a:off x="640080" y="502920"/>
            <a:ext cx="7863840" cy="292608"/>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WRAPPING UP</a:t>
            </a:r>
            <a:endParaRPr lang="en-US" sz="1200" dirty="0"/>
          </a:p>
        </p:txBody>
      </p:sp>
      <p:sp>
        <p:nvSpPr>
          <p:cNvPr id="3" name="Text 1"/>
          <p:cNvSpPr/>
          <p:nvPr/>
        </p:nvSpPr>
        <p:spPr>
          <a:xfrm>
            <a:off x="640080" y="777240"/>
            <a:ext cx="786384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sp>
        <p:nvSpPr>
          <p:cNvPr id="4" name="Shape 2"/>
          <p:cNvSpPr/>
          <p:nvPr/>
        </p:nvSpPr>
        <p:spPr>
          <a:xfrm>
            <a:off x="640080" y="1600200"/>
            <a:ext cx="3977640" cy="1170432"/>
          </a:xfrm>
          <a:prstGeom prst="roundRect">
            <a:avLst>
              <a:gd name="adj" fmla="val 6250"/>
            </a:avLst>
          </a:prstGeom>
          <a:solidFill>
            <a:srgbClr val="0A4552"/>
          </a:solidFill>
          <a:ln/>
        </p:spPr>
      </p:sp>
      <p:sp>
        <p:nvSpPr>
          <p:cNvPr id="5" name="Shape 3"/>
          <p:cNvSpPr/>
          <p:nvPr/>
        </p:nvSpPr>
        <p:spPr>
          <a:xfrm>
            <a:off x="841248" y="1819656"/>
            <a:ext cx="384048" cy="384048"/>
          </a:xfrm>
          <a:prstGeom prst="ellipse">
            <a:avLst/>
          </a:prstGeom>
          <a:solidFill>
            <a:srgbClr val="02C39A"/>
          </a:solidFill>
          <a:ln/>
        </p:spPr>
      </p:sp>
      <p:sp>
        <p:nvSpPr>
          <p:cNvPr id="6" name="Text 4"/>
          <p:cNvSpPr/>
          <p:nvPr/>
        </p:nvSpPr>
        <p:spPr>
          <a:xfrm>
            <a:off x="841248" y="1819656"/>
            <a:ext cx="384048" cy="384048"/>
          </a:xfrm>
          <a:prstGeom prst="rect">
            <a:avLst/>
          </a:prstGeom>
          <a:noFill/>
          <a:ln/>
        </p:spPr>
        <p:txBody>
          <a:bodyPr wrap="square" lIns="0" tIns="0" rIns="0" bIns="0" rtlCol="0" anchor="ctr"/>
          <a:lstStyle/>
          <a:p>
            <a:pPr algn="ctr" indent="0" marL="0">
              <a:buNone/>
            </a:pPr>
            <a:r>
              <a:rPr lang="en-US" sz="1600" b="1" dirty="0">
                <a:solidFill>
                  <a:srgbClr val="05343C"/>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89888" y="1783080"/>
            <a:ext cx="30632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SDLC = a repeatable recipe</a:t>
            </a:r>
            <a:endParaRPr lang="en-US" sz="1450" dirty="0"/>
          </a:p>
        </p:txBody>
      </p:sp>
      <p:sp>
        <p:nvSpPr>
          <p:cNvPr id="8" name="Text 6"/>
          <p:cNvSpPr/>
          <p:nvPr/>
        </p:nvSpPr>
        <p:spPr>
          <a:xfrm>
            <a:off x="1389888" y="2103120"/>
            <a:ext cx="3063240" cy="594360"/>
          </a:xfrm>
          <a:prstGeom prst="rect">
            <a:avLst/>
          </a:prstGeom>
          <a:noFill/>
          <a:ln/>
        </p:spPr>
        <p:txBody>
          <a:bodyPr wrap="square" lIns="0" tIns="0" rIns="0" bIns="0" rtlCol="0" anchor="t"/>
          <a:lstStyle/>
          <a:p>
            <a:pPr indent="0" marL="0">
              <a:buNone/>
            </a:pPr>
            <a:r>
              <a:rPr lang="en-US" sz="1150" dirty="0">
                <a:solidFill>
                  <a:srgbClr val="BFE3E0"/>
                </a:solidFill>
                <a:latin typeface="Calibri" pitchFamily="34" charset="0"/>
                <a:ea typeface="Calibri" pitchFamily="34" charset="-122"/>
                <a:cs typeface="Calibri" pitchFamily="34" charset="-120"/>
              </a:rPr>
              <a:t>Plan → Require → Design → Develop → Test → Deploy → Maintain.</a:t>
            </a:r>
            <a:endParaRPr lang="en-US" sz="1150" dirty="0"/>
          </a:p>
        </p:txBody>
      </p:sp>
      <p:sp>
        <p:nvSpPr>
          <p:cNvPr id="9" name="Shape 7"/>
          <p:cNvSpPr/>
          <p:nvPr/>
        </p:nvSpPr>
        <p:spPr>
          <a:xfrm>
            <a:off x="4892040" y="1600200"/>
            <a:ext cx="3977640" cy="1170432"/>
          </a:xfrm>
          <a:prstGeom prst="roundRect">
            <a:avLst>
              <a:gd name="adj" fmla="val 6250"/>
            </a:avLst>
          </a:prstGeom>
          <a:solidFill>
            <a:srgbClr val="0A4552"/>
          </a:solidFill>
          <a:ln/>
        </p:spPr>
      </p:sp>
      <p:sp>
        <p:nvSpPr>
          <p:cNvPr id="10" name="Shape 8"/>
          <p:cNvSpPr/>
          <p:nvPr/>
        </p:nvSpPr>
        <p:spPr>
          <a:xfrm>
            <a:off x="5093208" y="1819656"/>
            <a:ext cx="384048" cy="384048"/>
          </a:xfrm>
          <a:prstGeom prst="ellipse">
            <a:avLst/>
          </a:prstGeom>
          <a:solidFill>
            <a:srgbClr val="02C39A"/>
          </a:solidFill>
          <a:ln/>
        </p:spPr>
      </p:sp>
      <p:sp>
        <p:nvSpPr>
          <p:cNvPr id="11" name="Text 9"/>
          <p:cNvSpPr/>
          <p:nvPr/>
        </p:nvSpPr>
        <p:spPr>
          <a:xfrm>
            <a:off x="5093208" y="1819656"/>
            <a:ext cx="384048" cy="384048"/>
          </a:xfrm>
          <a:prstGeom prst="rect">
            <a:avLst/>
          </a:prstGeom>
          <a:noFill/>
          <a:ln/>
        </p:spPr>
        <p:txBody>
          <a:bodyPr wrap="square" lIns="0" tIns="0" rIns="0" bIns="0" rtlCol="0" anchor="ctr"/>
          <a:lstStyle/>
          <a:p>
            <a:pPr algn="ctr" indent="0" marL="0">
              <a:buNone/>
            </a:pPr>
            <a:r>
              <a:rPr lang="en-US" sz="1600" b="1" dirty="0">
                <a:solidFill>
                  <a:srgbClr val="05343C"/>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641848" y="1783080"/>
            <a:ext cx="30632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Early mistakes are cheap ones</a:t>
            </a:r>
            <a:endParaRPr lang="en-US" sz="1450" dirty="0"/>
          </a:p>
        </p:txBody>
      </p:sp>
      <p:sp>
        <p:nvSpPr>
          <p:cNvPr id="13" name="Text 11"/>
          <p:cNvSpPr/>
          <p:nvPr/>
        </p:nvSpPr>
        <p:spPr>
          <a:xfrm>
            <a:off x="5641848" y="2103120"/>
            <a:ext cx="3063240" cy="594360"/>
          </a:xfrm>
          <a:prstGeom prst="rect">
            <a:avLst/>
          </a:prstGeom>
          <a:noFill/>
          <a:ln/>
        </p:spPr>
        <p:txBody>
          <a:bodyPr wrap="square" lIns="0" tIns="0" rIns="0" bIns="0" rtlCol="0" anchor="t"/>
          <a:lstStyle/>
          <a:p>
            <a:pPr indent="0" marL="0">
              <a:buNone/>
            </a:pPr>
            <a:r>
              <a:rPr lang="en-US" sz="1150" dirty="0">
                <a:solidFill>
                  <a:srgbClr val="BFE3E0"/>
                </a:solidFill>
                <a:latin typeface="Calibri" pitchFamily="34" charset="0"/>
                <a:ea typeface="Calibri" pitchFamily="34" charset="-122"/>
                <a:cs typeface="Calibri" pitchFamily="34" charset="-120"/>
              </a:rPr>
              <a:t>The later a problem is found, the more it costs to fix.</a:t>
            </a:r>
            <a:endParaRPr lang="en-US" sz="1150" dirty="0"/>
          </a:p>
        </p:txBody>
      </p:sp>
      <p:sp>
        <p:nvSpPr>
          <p:cNvPr id="14" name="Shape 12"/>
          <p:cNvSpPr/>
          <p:nvPr/>
        </p:nvSpPr>
        <p:spPr>
          <a:xfrm>
            <a:off x="640080" y="3026664"/>
            <a:ext cx="3977640" cy="1170432"/>
          </a:xfrm>
          <a:prstGeom prst="roundRect">
            <a:avLst>
              <a:gd name="adj" fmla="val 6250"/>
            </a:avLst>
          </a:prstGeom>
          <a:solidFill>
            <a:srgbClr val="0A4552"/>
          </a:solidFill>
          <a:ln/>
        </p:spPr>
      </p:sp>
      <p:sp>
        <p:nvSpPr>
          <p:cNvPr id="15" name="Shape 13"/>
          <p:cNvSpPr/>
          <p:nvPr/>
        </p:nvSpPr>
        <p:spPr>
          <a:xfrm>
            <a:off x="841248" y="3246120"/>
            <a:ext cx="384048" cy="384048"/>
          </a:xfrm>
          <a:prstGeom prst="ellipse">
            <a:avLst/>
          </a:prstGeom>
          <a:solidFill>
            <a:srgbClr val="02C39A"/>
          </a:solidFill>
          <a:ln/>
        </p:spPr>
      </p:sp>
      <p:sp>
        <p:nvSpPr>
          <p:cNvPr id="16" name="Text 14"/>
          <p:cNvSpPr/>
          <p:nvPr/>
        </p:nvSpPr>
        <p:spPr>
          <a:xfrm>
            <a:off x="841248" y="3246120"/>
            <a:ext cx="384048" cy="384048"/>
          </a:xfrm>
          <a:prstGeom prst="rect">
            <a:avLst/>
          </a:prstGeom>
          <a:noFill/>
          <a:ln/>
        </p:spPr>
        <p:txBody>
          <a:bodyPr wrap="square" lIns="0" tIns="0" rIns="0" bIns="0" rtlCol="0" anchor="ctr"/>
          <a:lstStyle/>
          <a:p>
            <a:pPr algn="ctr" indent="0" marL="0">
              <a:buNone/>
            </a:pPr>
            <a:r>
              <a:rPr lang="en-US" sz="1600" b="1" dirty="0">
                <a:solidFill>
                  <a:srgbClr val="05343C"/>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89888" y="3209544"/>
            <a:ext cx="30632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Models are strategies</a:t>
            </a:r>
            <a:endParaRPr lang="en-US" sz="1450" dirty="0"/>
          </a:p>
        </p:txBody>
      </p:sp>
      <p:sp>
        <p:nvSpPr>
          <p:cNvPr id="18" name="Text 16"/>
          <p:cNvSpPr/>
          <p:nvPr/>
        </p:nvSpPr>
        <p:spPr>
          <a:xfrm>
            <a:off x="1389888" y="3529584"/>
            <a:ext cx="3063240" cy="594360"/>
          </a:xfrm>
          <a:prstGeom prst="rect">
            <a:avLst/>
          </a:prstGeom>
          <a:noFill/>
          <a:ln/>
        </p:spPr>
        <p:txBody>
          <a:bodyPr wrap="square" lIns="0" tIns="0" rIns="0" bIns="0" rtlCol="0" anchor="t"/>
          <a:lstStyle/>
          <a:p>
            <a:pPr indent="0" marL="0">
              <a:buNone/>
            </a:pPr>
            <a:r>
              <a:rPr lang="en-US" sz="1150" dirty="0">
                <a:solidFill>
                  <a:srgbClr val="BFE3E0"/>
                </a:solidFill>
                <a:latin typeface="Calibri" pitchFamily="34" charset="0"/>
                <a:ea typeface="Calibri" pitchFamily="34" charset="-122"/>
                <a:cs typeface="Calibri" pitchFamily="34" charset="-120"/>
              </a:rPr>
              <a:t>Waterfall goes straight through; Agile loops in short sprints.</a:t>
            </a:r>
            <a:endParaRPr lang="en-US" sz="1150" dirty="0"/>
          </a:p>
        </p:txBody>
      </p:sp>
      <p:sp>
        <p:nvSpPr>
          <p:cNvPr id="19" name="Shape 17"/>
          <p:cNvSpPr/>
          <p:nvPr/>
        </p:nvSpPr>
        <p:spPr>
          <a:xfrm>
            <a:off x="4892040" y="3026664"/>
            <a:ext cx="3977640" cy="1170432"/>
          </a:xfrm>
          <a:prstGeom prst="roundRect">
            <a:avLst>
              <a:gd name="adj" fmla="val 6250"/>
            </a:avLst>
          </a:prstGeom>
          <a:solidFill>
            <a:srgbClr val="0A4552"/>
          </a:solidFill>
          <a:ln/>
        </p:spPr>
      </p:sp>
      <p:sp>
        <p:nvSpPr>
          <p:cNvPr id="20" name="Shape 18"/>
          <p:cNvSpPr/>
          <p:nvPr/>
        </p:nvSpPr>
        <p:spPr>
          <a:xfrm>
            <a:off x="5093208" y="3246120"/>
            <a:ext cx="384048" cy="384048"/>
          </a:xfrm>
          <a:prstGeom prst="ellipse">
            <a:avLst/>
          </a:prstGeom>
          <a:solidFill>
            <a:srgbClr val="02C39A"/>
          </a:solidFill>
          <a:ln/>
        </p:spPr>
      </p:sp>
      <p:sp>
        <p:nvSpPr>
          <p:cNvPr id="21" name="Text 19"/>
          <p:cNvSpPr/>
          <p:nvPr/>
        </p:nvSpPr>
        <p:spPr>
          <a:xfrm>
            <a:off x="5093208" y="3246120"/>
            <a:ext cx="384048" cy="384048"/>
          </a:xfrm>
          <a:prstGeom prst="rect">
            <a:avLst/>
          </a:prstGeom>
          <a:noFill/>
          <a:ln/>
        </p:spPr>
        <p:txBody>
          <a:bodyPr wrap="square" lIns="0" tIns="0" rIns="0" bIns="0" rtlCol="0" anchor="ctr"/>
          <a:lstStyle/>
          <a:p>
            <a:pPr algn="ctr" indent="0" marL="0">
              <a:buNone/>
            </a:pPr>
            <a:r>
              <a:rPr lang="en-US" sz="1600" b="1" dirty="0">
                <a:solidFill>
                  <a:srgbClr val="05343C"/>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5641848" y="3209544"/>
            <a:ext cx="30632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It takes a whole team</a:t>
            </a:r>
            <a:endParaRPr lang="en-US" sz="1450" dirty="0"/>
          </a:p>
        </p:txBody>
      </p:sp>
      <p:sp>
        <p:nvSpPr>
          <p:cNvPr id="23" name="Text 21"/>
          <p:cNvSpPr/>
          <p:nvPr/>
        </p:nvSpPr>
        <p:spPr>
          <a:xfrm>
            <a:off x="5641848" y="3529584"/>
            <a:ext cx="3063240" cy="594360"/>
          </a:xfrm>
          <a:prstGeom prst="rect">
            <a:avLst/>
          </a:prstGeom>
          <a:noFill/>
          <a:ln/>
        </p:spPr>
        <p:txBody>
          <a:bodyPr wrap="square" lIns="0" tIns="0" rIns="0" bIns="0" rtlCol="0" anchor="t"/>
          <a:lstStyle/>
          <a:p>
            <a:pPr indent="0" marL="0">
              <a:buNone/>
            </a:pPr>
            <a:r>
              <a:rPr lang="en-US" sz="1150" dirty="0">
                <a:solidFill>
                  <a:srgbClr val="BFE3E0"/>
                </a:solidFill>
                <a:latin typeface="Calibri" pitchFamily="34" charset="0"/>
                <a:ea typeface="Calibri" pitchFamily="34" charset="-122"/>
                <a:cs typeface="Calibri" pitchFamily="34" charset="-120"/>
              </a:rPr>
              <a:t>Analysts, designers, developers, testers and DevOps all own a phase.</a:t>
            </a:r>
            <a:endParaRPr lang="en-US" sz="1150" dirty="0"/>
          </a:p>
        </p:txBody>
      </p:sp>
      <p:sp>
        <p:nvSpPr>
          <p:cNvPr id="24" name="Text 22"/>
          <p:cNvSpPr/>
          <p:nvPr/>
        </p:nvSpPr>
        <p:spPr>
          <a:xfrm>
            <a:off x="640080" y="4434840"/>
            <a:ext cx="7863840" cy="365760"/>
          </a:xfrm>
          <a:prstGeom prst="rect">
            <a:avLst/>
          </a:prstGeom>
          <a:noFill/>
          <a:ln/>
        </p:spPr>
        <p:txBody>
          <a:bodyPr wrap="square" lIns="0" tIns="0" rIns="0" bIns="0" rtlCol="0" anchor="ctr"/>
          <a:lstStyle/>
          <a:p>
            <a:pPr algn="ctr" indent="0" marL="0">
              <a:buNone/>
            </a:pPr>
            <a:r>
              <a:rPr lang="en-US" sz="1400" i="1" dirty="0">
                <a:solidFill>
                  <a:srgbClr val="02C39A"/>
                </a:solidFill>
                <a:latin typeface="Calibri" pitchFamily="34" charset="0"/>
                <a:ea typeface="Calibri" pitchFamily="34" charset="-122"/>
                <a:cs typeface="Calibri" pitchFamily="34" charset="-120"/>
              </a:rPr>
              <a:t>Every app on your phone travelled this exact journey. Now you know the map.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 Cycle — A Beginner's Guide</dc:title>
  <dc:subject>PptxGenJS Presentation</dc:subject>
  <dc:creator>SDLC Training</dc:creator>
  <cp:lastModifiedBy>SDLC Training</cp:lastModifiedBy>
  <cp:revision>1</cp:revision>
  <dcterms:created xsi:type="dcterms:W3CDTF">2026-07-06T10:20:27Z</dcterms:created>
  <dcterms:modified xsi:type="dcterms:W3CDTF">2026-07-06T10:20:27Z</dcterms:modified>
</cp:coreProperties>
</file>