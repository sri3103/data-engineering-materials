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943600" cy="5943600"/>
          </a:xfrm>
          <a:prstGeom prst="ellipse">
            <a:avLst/>
          </a:prstGeom>
          <a:solidFill>
            <a:srgbClr val="D3383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3840480" cy="3840480"/>
          </a:xfrm>
          <a:prstGeom prst="ellipse">
            <a:avLst/>
          </a:prstGeom>
          <a:solidFill>
            <a:srgbClr val="3C6E71">
              <a:alpha val="18000"/>
            </a:srgbClr>
          </a:solidFill>
          <a:ln/>
        </p:spPr>
      </p:sp>
      <p:pic>
        <p:nvPicPr>
          <p:cNvPr id="4" name="Image 0" descr="/tmp/cogs_D338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03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Build, Test &amp; Deployment with CI/CD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8100">
            <a:solidFill>
              <a:srgbClr val="D338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Tools Series  |  Session 3 of 3  •  Git → GitHub → Jenkins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45-Minute Engineering Walkthrough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•  Concept + Live Example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warning_D338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196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7465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Before CI/CD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70432" y="20208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build &amp; release doesn't scale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tmp/cogs_D338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117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4780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Jenkins?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70432" y="27523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role in the DevOps toolchain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/tmp/sitemap_D338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8269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2095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70432" y="34838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agents, executors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/tmp/layers_D338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1421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39410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70432" y="42153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Pipelines, Plugins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400800" y="169164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/tmp/terminal_D338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819656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22592" y="17465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&amp; Pipeline Syntax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7022592" y="20208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pipeline structure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400800" y="242316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/tmp/play_D3383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551176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22592" y="24780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7022592" y="27523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→ Deploy pipeline walkthrough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400800" y="315468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6" descr="/tmp/bulb_D3383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282696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22592" y="32095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Recap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7022592" y="34838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Before CI/CD Tools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343747"/>
          </a:solidFill>
          <a:ln/>
        </p:spPr>
      </p:sp>
      <p:pic>
        <p:nvPicPr>
          <p:cNvPr id="4" name="Image 0" descr="/tmp/warning_D338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builds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2651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build &amp; package code by hand on their own machine — “works on my machine” syndrome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14173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343747"/>
          </a:solidFill>
          <a:ln/>
        </p:spPr>
      </p:sp>
      <p:pic>
        <p:nvPicPr>
          <p:cNvPr id="8" name="Image 1" descr="/tmp/warning_D338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bug discovery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492240" y="2651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issues surface days later, once several developers' changes collide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7033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343747"/>
          </a:solidFill>
          <a:ln/>
        </p:spPr>
      </p:sp>
      <p:pic>
        <p:nvPicPr>
          <p:cNvPr id="12" name="Image 2" descr="/tmp/warning_D338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risky releases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22960" y="4937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are manual, inconsistent, and depend on one person's tribal knowledge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17920" y="37033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343747"/>
          </a:solidFill>
          <a:ln/>
        </p:spPr>
      </p:sp>
      <p:pic>
        <p:nvPicPr>
          <p:cNvPr id="16" name="Image 3" descr="/tmp/warning_D338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9776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9224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492240" y="4937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a build is broken until QA — or a customer — finds it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Jenkins?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922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pic>
        <p:nvPicPr>
          <p:cNvPr id="4" name="Image 0" descr="/tmp/cogs_D338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7373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automation server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8680" y="246888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Java, first released in 2011 (forked from Hudson).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repetitive parts of software delivery: build, test, and deploy.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your Git/GitHub repo and triggers a pipeline whenever code changes.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with 1,800+ plugins — Git, Docker, Slack, Kubernetes, Maven, and more.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and self-hosted — runs on your own server or container.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0" y="1371600"/>
            <a:ext cx="4343400" cy="4754880"/>
          </a:xfrm>
          <a:prstGeom prst="roundRect">
            <a:avLst>
              <a:gd name="adj" fmla="val 1684"/>
            </a:avLst>
          </a:prstGeom>
          <a:solidFill>
            <a:srgbClr val="2B2E3B"/>
          </a:solidFill>
          <a:ln/>
        </p:spPr>
      </p:sp>
      <p:pic>
        <p:nvPicPr>
          <p:cNvPr id="8" name="Image 1" descr="/tmp/sync_D338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916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2104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automates: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635240" y="2423160"/>
            <a:ext cx="3703320" cy="713232"/>
          </a:xfrm>
          <a:prstGeom prst="roundRect">
            <a:avLst>
              <a:gd name="adj" fmla="val 12821"/>
            </a:avLst>
          </a:prstGeom>
          <a:solidFill>
            <a:srgbClr val="343747"/>
          </a:solidFill>
          <a:ln/>
        </p:spPr>
      </p:sp>
      <p:pic>
        <p:nvPicPr>
          <p:cNvPr id="11" name="Image 2" descr="/tmp/gi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569464"/>
            <a:ext cx="420624" cy="4206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2480" y="24231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code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326880" y="3081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635240" y="3337560"/>
            <a:ext cx="3703320" cy="713232"/>
          </a:xfrm>
          <a:prstGeom prst="roundRect">
            <a:avLst>
              <a:gd name="adj" fmla="val 12821"/>
            </a:avLst>
          </a:prstGeom>
          <a:solidFill>
            <a:srgbClr val="343747"/>
          </a:solidFill>
          <a:ln/>
        </p:spPr>
      </p:sp>
      <p:pic>
        <p:nvPicPr>
          <p:cNvPr id="15" name="Image 3" descr="/tmp/hamm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483864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12480" y="33375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9326880" y="3995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7635240" y="4251960"/>
            <a:ext cx="3703320" cy="713232"/>
          </a:xfrm>
          <a:prstGeom prst="roundRect">
            <a:avLst>
              <a:gd name="adj" fmla="val 12821"/>
            </a:avLst>
          </a:prstGeom>
          <a:solidFill>
            <a:srgbClr val="343747"/>
          </a:solidFill>
          <a:ln/>
        </p:spPr>
      </p:sp>
      <p:pic>
        <p:nvPicPr>
          <p:cNvPr id="19" name="Image 4" descr="/tmp/flas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398264"/>
            <a:ext cx="420624" cy="4206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12480" y="42519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9326880" y="4910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7635240" y="5166360"/>
            <a:ext cx="3703320" cy="713232"/>
          </a:xfrm>
          <a:prstGeom prst="roundRect">
            <a:avLst>
              <a:gd name="adj" fmla="val 12821"/>
            </a:avLst>
          </a:prstGeom>
          <a:solidFill>
            <a:srgbClr val="343747"/>
          </a:solidFill>
          <a:ln/>
        </p:spPr>
      </p:sp>
      <p:pic>
        <p:nvPicPr>
          <p:cNvPr id="23" name="Image 5" descr="/tmp/rocke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5312664"/>
            <a:ext cx="420624" cy="42062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412480" y="5166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Controller–Agent model for distributed builds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2B2E3B"/>
          </a:solidFill>
          <a:ln/>
        </p:spPr>
      </p:sp>
      <p:pic>
        <p:nvPicPr>
          <p:cNvPr id="5" name="Image 0" descr="/tmp/server_D338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(Master)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297180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9DAE3"/>
                </a:solidFill>
              </a:rPr>
              <a:t>Hosts the Jenkins UI &amp; REST API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9DAE3"/>
                </a:solidFill>
              </a:rPr>
              <a:t>Schedules jobs &amp; manages the queue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9DAE3"/>
                </a:solidFill>
              </a:rPr>
              <a:t>Stores configuration and plugins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9DAE3"/>
                </a:solidFill>
              </a:rPr>
              <a:t>Dispatches build steps to agents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3520440"/>
            <a:ext cx="822960" cy="457200"/>
          </a:xfrm>
          <a:prstGeom prst="rightArrow">
            <a:avLst/>
          </a:prstGeom>
          <a:solidFill>
            <a:srgbClr val="3C6E71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1874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Nodes (distributed workers)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0" y="23317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tmp/laptop_3C6E7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46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Agent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852160" y="28986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shell build steps, Docker builds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778240" y="23317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/tmp/laptop_3C6E7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51460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6404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Agent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961120" y="28986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.NET / MSBuild pipelines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669280" y="39776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/tmp/laptop_3C6E7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16052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5508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Agent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852160" y="45445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containers spun up on demand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778240" y="39776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4" descr="/tmp/laptop_3C6E7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16052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6404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961120" y="45445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executor pool for test suites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FBEAE9"/>
          </a:solidFill>
          <a:ln/>
        </p:spPr>
      </p:sp>
      <p:pic>
        <p:nvPicPr>
          <p:cNvPr id="5" name="Image 0" descr="/tmp/hammer_D338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/ Project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unit of work — a single configured task (e.g. build this repo).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434840" y="13716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600200"/>
            <a:ext cx="594360" cy="594360"/>
          </a:xfrm>
          <a:prstGeom prst="ellipse">
            <a:avLst/>
          </a:prstGeom>
          <a:solidFill>
            <a:srgbClr val="FBEAE9"/>
          </a:solidFill>
          <a:ln/>
        </p:spPr>
      </p:sp>
      <p:pic>
        <p:nvPicPr>
          <p:cNvPr id="10" name="Image 1" descr="/tmp/codebranch_D338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7145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6344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defined as code — a sequence of stages (build, test, deploy) run in order.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321040" y="13716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1600200"/>
            <a:ext cx="594360" cy="594360"/>
          </a:xfrm>
          <a:prstGeom prst="ellipse">
            <a:avLst/>
          </a:prstGeom>
          <a:solidFill>
            <a:srgbClr val="FBEAE9"/>
          </a:solidFill>
          <a:ln/>
        </p:spPr>
      </p:sp>
      <p:pic>
        <p:nvPicPr>
          <p:cNvPr id="15" name="Image 2" descr="/tmp/cubes_D338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17145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54964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add-on that extends Jenkins — Git, Docker, Slack notifications, and more.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rgbClr val="FBEAE9"/>
          </a:solidFill>
          <a:ln/>
        </p:spPr>
      </p:sp>
      <p:pic>
        <p:nvPicPr>
          <p:cNvPr id="20" name="Image 3" descr="/tmp/laptop_D338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137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7724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slot on a node that runs one build at a time; more executors = more parallelism.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434840" y="37947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63440" y="4023360"/>
            <a:ext cx="594360" cy="594360"/>
          </a:xfrm>
          <a:prstGeom prst="ellipse">
            <a:avLst/>
          </a:prstGeom>
          <a:solidFill>
            <a:srgbClr val="FBEAE9"/>
          </a:solidFill>
          <a:ln/>
        </p:spPr>
      </p:sp>
      <p:pic>
        <p:nvPicPr>
          <p:cNvPr id="25" name="Image 4" descr="/tmp/sync_D338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13766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6344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66344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kicks off a build — a Git push (webhook), a schedule (cron), or manually.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321040" y="37947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49640" y="4023360"/>
            <a:ext cx="594360" cy="594360"/>
          </a:xfrm>
          <a:prstGeom prst="ellipse">
            <a:avLst/>
          </a:prstGeom>
          <a:solidFill>
            <a:srgbClr val="FBEAE9"/>
          </a:solidFill>
          <a:ln/>
        </p:spPr>
      </p:sp>
      <p:pic>
        <p:nvPicPr>
          <p:cNvPr id="30" name="Image 5" descr="/tmp/clipboard_D3383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3940" y="413766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4964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Run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54964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 of a job or pipeline, with its own logs, status, and artifacts.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Build a Job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343747"/>
          </a:solidFill>
          <a:ln/>
        </p:spPr>
      </p:sp>
      <p:pic>
        <p:nvPicPr>
          <p:cNvPr id="4" name="Image 0" descr="/tmp/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Freestyle Project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9DAE3"/>
                </a:solidFill>
              </a:rPr>
              <a:t>Configured entirely through the UI — no code file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9DAE3"/>
                </a:solidFill>
              </a:rPr>
              <a:t>Good for simple, single-step tasks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9DAE3"/>
                </a:solidFill>
              </a:rPr>
              <a:t>Harder to version-control or review changes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9DAE3"/>
                </a:solidFill>
              </a:rPr>
              <a:t>Not portable across Jenkins instances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D33833"/>
          </a:solidFill>
          <a:ln/>
        </p:spPr>
      </p:sp>
      <p:pic>
        <p:nvPicPr>
          <p:cNvPr id="8" name="Image 1" descr="/tmp/termina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916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948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(Jenkinsfile)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583680" y="23774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Defined as code in a Jenkinsfile, stored in the repo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Reviewed, versioned, and branched like any source file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Supports multi-stage, parallel, and conditional logic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Industry-recommended approach — used in today's example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Jenkinsfile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pipeline syntax — the standard, readable format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572000"/>
          </a:xfrm>
          <a:prstGeom prst="roundRect">
            <a:avLst>
              <a:gd name="adj" fmla="val 1600"/>
            </a:avLst>
          </a:prstGeom>
          <a:solidFill>
            <a:srgbClr val="2B2E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6217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any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stage('Build')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 sh 'mvn clean package'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stage('Test')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 sh 'mvn test'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stage('Deploy')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 sh './deploy.sh'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pic>
        <p:nvPicPr>
          <p:cNvPr id="6" name="Image 0" descr="/tmp/sitemap_D338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6459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{ }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1000" y="19385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block — everything lives inside this.</a:t>
            </a:r>
            <a:endParaRPr lang="en-US" sz="1100" dirty="0"/>
          </a:p>
        </p:txBody>
      </p:sp>
      <p:pic>
        <p:nvPicPr>
          <p:cNvPr id="9" name="Image 1" descr="/tmp/laptop_D338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76148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01000" y="2715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any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001000" y="30540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Jenkins which node/executor runs the pipeline.</a:t>
            </a:r>
            <a:endParaRPr lang="en-US" sz="1100" dirty="0"/>
          </a:p>
        </p:txBody>
      </p:sp>
      <p:pic>
        <p:nvPicPr>
          <p:cNvPr id="12" name="Image 2" descr="/tmp/layers_D338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87705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01000" y="38313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 { }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001000" y="41696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the pipeline into logical, ordered phases.</a:t>
            </a:r>
            <a:endParaRPr lang="en-US" sz="1100" dirty="0"/>
          </a:p>
        </p:txBody>
      </p:sp>
      <p:pic>
        <p:nvPicPr>
          <p:cNvPr id="15" name="Image 3" descr="/tmp/play_D338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4992624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01000" y="4946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{ }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8001000" y="52852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shell/CLI commands executed in a stage.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D33833">
              <a:alpha val="10000"/>
            </a:srgbClr>
          </a:solidFill>
          <a:ln/>
        </p:spPr>
      </p:sp>
      <p:pic>
        <p:nvPicPr>
          <p:cNvPr id="3" name="Image 0" descr="/tmp/play_D338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Java app: build with Maven, run unit tests, deploy the JAR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93192" y="374904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343747"/>
          </a:solidFill>
          <a:ln/>
        </p:spPr>
      </p:sp>
      <p:pic>
        <p:nvPicPr>
          <p:cNvPr id="7" name="Image 1" descr="/tmp/gi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39776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632" y="4663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Push to GitHub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496312" y="4251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3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2706624" y="374904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343747"/>
          </a:solidFill>
          <a:ln/>
        </p:spPr>
      </p:sp>
      <p:pic>
        <p:nvPicPr>
          <p:cNvPr id="11" name="Image 2" descr="/tmp/cog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397764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98064" y="4663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Webhook triggers Jenkins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809744" y="4251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3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020056" y="374904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343747"/>
          </a:solidFill>
          <a:ln/>
        </p:spPr>
      </p:sp>
      <p:pic>
        <p:nvPicPr>
          <p:cNvPr id="15" name="Image 3" descr="/tmp/hamm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97764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11496" y="4663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stage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7123176" y="4251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3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7333488" y="374904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343747"/>
          </a:solidFill>
          <a:ln/>
        </p:spPr>
      </p:sp>
      <p:pic>
        <p:nvPicPr>
          <p:cNvPr id="19" name="Image 4" descr="/tmp/flas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397764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24928" y="4663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stage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9436608" y="4251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3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5"/>
          <p:cNvSpPr/>
          <p:nvPr/>
        </p:nvSpPr>
        <p:spPr>
          <a:xfrm>
            <a:off x="9646920" y="374904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343747"/>
          </a:solidFill>
          <a:ln/>
        </p:spPr>
      </p:sp>
      <p:pic>
        <p:nvPicPr>
          <p:cNvPr id="23" name="Image 5" descr="/tmp/rocke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0" y="3977640"/>
            <a:ext cx="502920" cy="5029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738360" y="4663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 stage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Java App Jenkinsfile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build → JUnit tests → copy artifact to deploy folder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2B2E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27632"/>
            <a:ext cx="104241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{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 any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 {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maven 'Maven-3.9'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jdk 'JDK-17'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stages {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stage('Checkout') {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steps {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git branch: 'main',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url: 'https://github.com/org/sample-app.git'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stage('Build') {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steps { sh 'mvn clean package -DskipTests'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stage('Test') {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steps { sh 'mvn test'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post {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always { junit 'target/surefire-reports/*.xml'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stage('Deploy') {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steps {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sh 'cp target/sample-app.jar /opt/deploy/'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 {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success { echo 'Pipeline completed successfully!'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failure { echo 'Build failed — check console output.'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9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Walking Through the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6304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D338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19072"/>
            <a:ext cx="2606040" cy="246888"/>
          </a:xfrm>
          <a:prstGeom prst="rect">
            <a:avLst/>
          </a:prstGeom>
          <a:solidFill>
            <a:srgbClr val="D338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/tmp/git_D338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1488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clones the 'main' branch from GitHub the moment a webhook fires on push.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14630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0712" y="146304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D33833"/>
          </a:solidFill>
          <a:ln/>
        </p:spPr>
      </p:sp>
      <p:sp>
        <p:nvSpPr>
          <p:cNvPr id="12" name="Shape 9"/>
          <p:cNvSpPr/>
          <p:nvPr/>
        </p:nvSpPr>
        <p:spPr>
          <a:xfrm>
            <a:off x="3410712" y="1719072"/>
            <a:ext cx="2606040" cy="246888"/>
          </a:xfrm>
          <a:prstGeom prst="rect">
            <a:avLst/>
          </a:prstGeom>
          <a:solidFill>
            <a:srgbClr val="D33833"/>
          </a:solidFill>
          <a:ln/>
        </p:spPr>
      </p:sp>
      <p:sp>
        <p:nvSpPr>
          <p:cNvPr id="13" name="Text 10"/>
          <p:cNvSpPr/>
          <p:nvPr/>
        </p:nvSpPr>
        <p:spPr>
          <a:xfrm>
            <a:off x="3547872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/tmp/hammer_D338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1488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47872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93592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compiles the code and packages it into a JAR, skipping tests for speed.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72784" y="14630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72784" y="146304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D33833"/>
          </a:solidFill>
          <a:ln/>
        </p:spPr>
      </p:sp>
      <p:sp>
        <p:nvSpPr>
          <p:cNvPr id="19" name="Shape 15"/>
          <p:cNvSpPr/>
          <p:nvPr/>
        </p:nvSpPr>
        <p:spPr>
          <a:xfrm>
            <a:off x="6272784" y="1719072"/>
            <a:ext cx="2606040" cy="246888"/>
          </a:xfrm>
          <a:prstGeom prst="rect">
            <a:avLst/>
          </a:prstGeom>
          <a:solidFill>
            <a:srgbClr val="D33833"/>
          </a:solidFill>
          <a:ln/>
        </p:spPr>
      </p:sp>
      <p:sp>
        <p:nvSpPr>
          <p:cNvPr id="20" name="Text 16"/>
          <p:cNvSpPr/>
          <p:nvPr/>
        </p:nvSpPr>
        <p:spPr>
          <a:xfrm>
            <a:off x="6409944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/tmp/flask_D338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214884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9944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55664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run via 'mvn test'; JUnit results are published even if the stage fails.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134856" y="14630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134856" y="146304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D33833"/>
          </a:solidFill>
          <a:ln/>
        </p:spPr>
      </p:sp>
      <p:sp>
        <p:nvSpPr>
          <p:cNvPr id="26" name="Shape 21"/>
          <p:cNvSpPr/>
          <p:nvPr/>
        </p:nvSpPr>
        <p:spPr>
          <a:xfrm>
            <a:off x="9134856" y="1719072"/>
            <a:ext cx="2606040" cy="246888"/>
          </a:xfrm>
          <a:prstGeom prst="rect">
            <a:avLst/>
          </a:prstGeom>
          <a:solidFill>
            <a:srgbClr val="D33833"/>
          </a:solidFill>
          <a:ln/>
        </p:spPr>
      </p:sp>
      <p:sp>
        <p:nvSpPr>
          <p:cNvPr id="27" name="Text 22"/>
          <p:cNvSpPr/>
          <p:nvPr/>
        </p:nvSpPr>
        <p:spPr>
          <a:xfrm>
            <a:off x="9272016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8" name="Image 3" descr="/tmp/rocket_D338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16" y="214884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72016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317736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packaged JAR is copied to the deploy directory — ready to run or containerize.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logged in the Jenkins console — click any build number to see the full stdout/stderr trail.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Jenkins to GitHub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3437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28216"/>
            <a:ext cx="548640" cy="548640"/>
          </a:xfrm>
          <a:prstGeom prst="ellipse">
            <a:avLst/>
          </a:prstGeom>
          <a:solidFill>
            <a:srgbClr val="D33833"/>
          </a:solidFill>
          <a:ln/>
        </p:spPr>
      </p:sp>
      <p:pic>
        <p:nvPicPr>
          <p:cNvPr id="5" name="Image 0" descr="/tmp/githu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6537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18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0" y="1508760"/>
            <a:ext cx="6309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commits and pushes to the 'main' branch.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79192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343747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898648"/>
            <a:ext cx="548640" cy="548640"/>
          </a:xfrm>
          <a:prstGeom prst="ellipse">
            <a:avLst/>
          </a:prstGeom>
          <a:solidFill>
            <a:srgbClr val="D33833"/>
          </a:solidFill>
          <a:ln/>
        </p:spPr>
      </p:sp>
      <p:pic>
        <p:nvPicPr>
          <p:cNvPr id="10" name="Image 1" descr="/tmp/sync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0358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fires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029200" y="2679192"/>
            <a:ext cx="6309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sends a POST request to Jenkins' webhook URL instantly.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49624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343747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D33833"/>
          </a:solidFill>
          <a:ln/>
        </p:spPr>
      </p:sp>
      <p:pic>
        <p:nvPicPr>
          <p:cNvPr id="15" name="Image 2" descr="/tmp/cog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062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959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triggers build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029200" y="3849624"/>
            <a:ext cx="6309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'Poll SCM' or webhook trigger starts the pipeline automatically.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020056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343747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5239512"/>
            <a:ext cx="548640" cy="548640"/>
          </a:xfrm>
          <a:prstGeom prst="ellipse">
            <a:avLst/>
          </a:prstGeom>
          <a:solidFill>
            <a:srgbClr val="D33833"/>
          </a:solidFill>
          <a:ln/>
        </p:spPr>
      </p:sp>
      <p:pic>
        <p:nvPicPr>
          <p:cNvPr id="20" name="Image 3" descr="/tmp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7667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1297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reported back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029200" y="5020056"/>
            <a:ext cx="6309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result (pass/fail) is posted back as a commit status check.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737360"/>
            <a:ext cx="566928" cy="566928"/>
          </a:xfrm>
          <a:prstGeom prst="ellipse">
            <a:avLst/>
          </a:prstGeom>
          <a:solidFill>
            <a:srgbClr val="E7F1F1"/>
          </a:solidFill>
          <a:ln/>
        </p:spPr>
      </p:sp>
      <p:pic>
        <p:nvPicPr>
          <p:cNvPr id="5" name="Image 0" descr="/tmp/terminal_3C6E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562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087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Jenkinsfile in source control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08760" y="199339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it alongside the app — review changes in pull requests.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5080" y="137160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56248" y="1737360"/>
            <a:ext cx="566928" cy="566928"/>
          </a:xfrm>
          <a:prstGeom prst="ellipse">
            <a:avLst/>
          </a:prstGeom>
          <a:solidFill>
            <a:srgbClr val="E7F1F1"/>
          </a:solidFill>
          <a:ln/>
        </p:spPr>
      </p:sp>
      <p:pic>
        <p:nvPicPr>
          <p:cNvPr id="10" name="Image 1" descr="/tmp/cubes_3C6E7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5623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5087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plugin &amp; tool versions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315200" y="199339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surprise breakage when Jenkins or plugins auto-update.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3291840"/>
            <a:ext cx="566928" cy="566928"/>
          </a:xfrm>
          <a:prstGeom prst="ellipse">
            <a:avLst/>
          </a:prstGeom>
          <a:solidFill>
            <a:srgbClr val="E7F1F1"/>
          </a:solidFill>
          <a:ln/>
        </p:spPr>
      </p:sp>
      <p:pic>
        <p:nvPicPr>
          <p:cNvPr id="15" name="Image 2" descr="/tmp/laptop_3C6E7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071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0632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agents, not the controller, to build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508760" y="354787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controller lightweight; run heavy jobs on dedicated agents.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355080" y="2926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56248" y="3291840"/>
            <a:ext cx="566928" cy="566928"/>
          </a:xfrm>
          <a:prstGeom prst="ellipse">
            <a:avLst/>
          </a:prstGeom>
          <a:solidFill>
            <a:srgbClr val="E7F1F1"/>
          </a:solidFill>
          <a:ln/>
        </p:spPr>
      </p:sp>
      <p:pic>
        <p:nvPicPr>
          <p:cNvPr id="20" name="Image 3" descr="/tmp/clipboard_3C6E7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41071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30632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artifacts &amp; test reports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315200" y="354787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JUnit/coverage reports so failures are easy to diagnose.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48056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49808" y="4846320"/>
            <a:ext cx="566928" cy="566928"/>
          </a:xfrm>
          <a:prstGeom prst="ellipse">
            <a:avLst/>
          </a:prstGeom>
          <a:solidFill>
            <a:srgbClr val="E7F1F1"/>
          </a:solidFill>
          <a:ln/>
        </p:spPr>
      </p:sp>
      <p:pic>
        <p:nvPicPr>
          <p:cNvPr id="25" name="Image 4" descr="/tmp/users_3C6E7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965192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46177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credentials with the Credentials plugin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508760" y="510235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secrets/tokens directly in the Jenkinsfile.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355080" y="448056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56248" y="4846320"/>
            <a:ext cx="566928" cy="566928"/>
          </a:xfrm>
          <a:prstGeom prst="ellipse">
            <a:avLst/>
          </a:prstGeom>
          <a:solidFill>
            <a:srgbClr val="E7F1F1"/>
          </a:solidFill>
          <a:ln/>
        </p:spPr>
      </p:sp>
      <p:pic>
        <p:nvPicPr>
          <p:cNvPr id="30" name="Image 5" descr="/tmp/sync_3C6E7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965192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15200" y="46177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fast, notify fast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7315200" y="510235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Slack/email notifications into post { } blocks for quick feedback.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6400800" cy="6400800"/>
          </a:xfrm>
          <a:prstGeom prst="ellipse">
            <a:avLst/>
          </a:prstGeom>
          <a:solidFill>
            <a:srgbClr val="D3383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pic>
        <p:nvPicPr>
          <p:cNvPr id="4" name="Image 0" descr="/tmp/check_D338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52704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is an open-source automation server that runs your build-test-deploy pipeline automatically.</a:t>
            </a:r>
            <a:endParaRPr lang="en-US" sz="1450" dirty="0"/>
          </a:p>
        </p:txBody>
      </p:sp>
      <p:pic>
        <p:nvPicPr>
          <p:cNvPr id="6" name="Image 1" descr="/tmp/check_D338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74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3042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schedules work; Agents execute it — this scales Jenkins across many machines.</a:t>
            </a:r>
            <a:endParaRPr lang="en-US" sz="1450" dirty="0"/>
          </a:p>
        </p:txBody>
      </p:sp>
      <p:pic>
        <p:nvPicPr>
          <p:cNvPr id="8" name="Image 2" descr="/tmp/check_D338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5468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4440" y="308152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Pipelines (Jenkinsfile) over Freestyle jobs — code-as-configuration, reviewable and portable.</a:t>
            </a:r>
            <a:endParaRPr lang="en-US" sz="1450" dirty="0"/>
          </a:p>
        </p:txBody>
      </p:sp>
      <p:pic>
        <p:nvPicPr>
          <p:cNvPr id="10" name="Image 3" descr="/tmp/check_D338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3192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34440" y="38587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webhook triggers the pipeline the moment code is pushed — no manual step required.</a:t>
            </a:r>
            <a:endParaRPr lang="en-US" sz="1450" dirty="0"/>
          </a:p>
        </p:txBody>
      </p:sp>
      <p:sp>
        <p:nvSpPr>
          <p:cNvPr id="12" name="Shape 6"/>
          <p:cNvSpPr/>
          <p:nvPr/>
        </p:nvSpPr>
        <p:spPr>
          <a:xfrm>
            <a:off x="685800" y="5074920"/>
            <a:ext cx="3657600" cy="0"/>
          </a:xfrm>
          <a:prstGeom prst="line">
            <a:avLst/>
          </a:prstGeom>
          <a:noFill/>
          <a:ln w="25400">
            <a:solidFill>
              <a:srgbClr val="D33833"/>
            </a:solidFill>
            <a:prstDash val="solid"/>
          </a:ln>
        </p:spPr>
      </p:sp>
      <p:pic>
        <p:nvPicPr>
          <p:cNvPr id="13" name="Image 4" descr="/tmp/questio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349240"/>
            <a:ext cx="548640" cy="5486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71600" y="5394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15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 Automation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2026-07-15T08:03:37Z</dcterms:created>
  <dcterms:modified xsi:type="dcterms:W3CDTF">2026-07-15T08:03:37Z</dcterms:modified>
</cp:coreProperties>
</file>