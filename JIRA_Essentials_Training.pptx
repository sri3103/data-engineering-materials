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355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572000" cy="4572000"/>
          </a:xfrm>
          <a:prstGeom prst="ellipse">
            <a:avLst/>
          </a:prstGeom>
          <a:solidFill>
            <a:srgbClr val="0052CC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6554C0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960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86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ESSENTIALS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E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Backlog to Done — Navigating JIRA for Agile Teams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502920" cy="36576"/>
          </a:xfrm>
          <a:prstGeom prst="rect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45-Minute Session   </a:t>
            </a:r>
            <a:r>
              <a:rPr lang="en-US" sz="1300" dirty="0">
                <a:solidFill>
                  <a:srgbClr val="B3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Follow-on from SDLC &amp; Agile Fundamentals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minutes  •  Recap → Tool Walkthrough → Hands-on Concepts → Q&amp;A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55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&amp; Agile — how JIRA fits in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34840" y="15544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63440" y="1783080"/>
            <a:ext cx="548640" cy="54864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9110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755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Core Concepts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66344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Issues, Workflows, Boards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663440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321040" y="15544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549640" y="1783080"/>
            <a:ext cx="548640" cy="54864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7656" y="19110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35440" y="1755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Walkthrough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54964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Board, Issue Detail View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549640" y="27432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3832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77240" y="3611880"/>
            <a:ext cx="548640" cy="54864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373989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3584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in Action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77240" y="4160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tracking, closing a sprint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77240" y="4572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434840" y="33832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4663440" y="3611880"/>
            <a:ext cx="548640" cy="54864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3739896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9240" y="3584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JQL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663440" y="4160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Burndown, velocity, quick search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663440" y="4572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321040" y="338328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4F5F7"/>
          </a:solidFill>
          <a:ln/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8549640" y="3611880"/>
            <a:ext cx="548640" cy="54864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7656" y="3739896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35440" y="35844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Q&amp;A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549640" y="41605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+ open floor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8549640" y="4572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Recap: Where JIRA Fits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learned SDLC phases and Agile/Scrum principles. JIRA is the tool that operationalizes them.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08760" y="21945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776" y="23225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grooming, epics &amp; stories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017520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2C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37560" y="19202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696" y="232257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board, task tracking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806440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2C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086600" y="21945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232257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transitions, comments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595360" y="2560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52CC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8915400" y="19202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9875520" y="21945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232257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1540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05256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Version/fix tagging, reports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41148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9144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14400" y="4709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doesn't replace Agile ceremonies — it gives them structure. Every sprint planning meeting, standup, and retro references data living inside JIRA: the backlog, the board, and the issue history.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Concept: Issue Hierarchy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JIRA is an 'Issue' — but issues nest into a hierarchy.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9601200" cy="777240"/>
          </a:xfrm>
          <a:prstGeom prst="roundRect">
            <a:avLst>
              <a:gd name="adj" fmla="val 9412"/>
            </a:avLst>
          </a:prstGeom>
          <a:solidFill>
            <a:srgbClr val="6554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746504"/>
            <a:ext cx="484632" cy="48463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18516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0116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body of work, spans multiple sprints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463040" y="2560320"/>
            <a:ext cx="7772400" cy="777240"/>
          </a:xfrm>
          <a:prstGeom prst="roundRect">
            <a:avLst>
              <a:gd name="adj" fmla="val 9412"/>
            </a:avLst>
          </a:prstGeom>
          <a:solidFill>
            <a:srgbClr val="36B3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645920" y="2706624"/>
            <a:ext cx="484632" cy="48463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364" y="28117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860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/ TASK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28600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requirement or work item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377440" y="352044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2560320" y="3666744"/>
            <a:ext cx="484632" cy="48463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3764" y="37719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004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SUB-TASK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20040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technical steps within a story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91840" y="44805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DE35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3474720" y="4626864"/>
            <a:ext cx="484632" cy="484632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164" y="47320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114800" y="4572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114800" y="4892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logged against any level above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 Oracle Fusion / ADF-style delivery work, teams often map Epics to a release theme, and Stories to individual integration or pipeline builds.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UI: The Backlog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product owners groom and prioritize upcoming work before a sprint starts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680960" cy="5029200"/>
          </a:xfrm>
          <a:prstGeom prst="roundRect">
            <a:avLst>
              <a:gd name="adj" fmla="val 909"/>
            </a:avLst>
          </a:prstGeom>
          <a:solidFill>
            <a:srgbClr val="F4F5F7"/>
          </a:solidFill>
          <a:ln w="12700">
            <a:solidFill>
              <a:srgbClr val="DFE1E6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680960" cy="457200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 /  Data-Platform-Migration  /  Backlog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1444752"/>
            <a:ext cx="320040" cy="32004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0" y="1513332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2011680"/>
            <a:ext cx="73152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6868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14   (12 Jul – 25 Jul)   •   34 story points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2066544"/>
            <a:ext cx="1280160" cy="292608"/>
          </a:xfrm>
          <a:prstGeom prst="roundRect">
            <a:avLst>
              <a:gd name="adj" fmla="val 125000"/>
            </a:avLst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675120" y="20665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Sprint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520" y="2560320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883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94560" y="2679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ADF pipeline for HR staging load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589520" y="2670048"/>
            <a:ext cx="292608" cy="292608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758952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731520" y="3127248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5526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444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21945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ORCID sequence collision (PER-1532552)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589520" y="3236976"/>
            <a:ext cx="292608" cy="292608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9"/>
          <p:cNvSpPr/>
          <p:nvPr/>
        </p:nvSpPr>
        <p:spPr>
          <a:xfrm>
            <a:off x="758952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731520" y="3694176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22192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34440" y="3813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DPM-144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2194560" y="38130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async token refresh to Fusion connector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589520" y="3803904"/>
            <a:ext cx="292608" cy="292608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7589520" y="3803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8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731520" y="4261104"/>
            <a:ext cx="7315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BE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89120"/>
            <a:ext cx="256032" cy="25603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234440" y="4379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DPM-145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2194560" y="43799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Synapse serverless pool for reporting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7589520" y="4370832"/>
            <a:ext cx="292608" cy="292608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9"/>
          <p:cNvSpPr/>
          <p:nvPr/>
        </p:nvSpPr>
        <p:spPr>
          <a:xfrm>
            <a:off x="7589520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52CC"/>
                </a:solidFill>
              </a:rPr>
              <a:t>13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8458200" y="1417320"/>
            <a:ext cx="109728" cy="10972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/>
          <p:cNvSpPr/>
          <p:nvPr/>
        </p:nvSpPr>
        <p:spPr>
          <a:xfrm>
            <a:off x="8686800" y="1307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list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8686800" y="16002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Unstarted issues ranked by priority, top = next to pick up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458200" y="2468880"/>
            <a:ext cx="109728" cy="10972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4"/>
          <p:cNvSpPr/>
          <p:nvPr/>
        </p:nvSpPr>
        <p:spPr>
          <a:xfrm>
            <a:off x="868680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grouping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868680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dragged into a Sprint container before it starts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8458200" y="3520440"/>
            <a:ext cx="109728" cy="10972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37"/>
          <p:cNvSpPr/>
          <p:nvPr/>
        </p:nvSpPr>
        <p:spPr>
          <a:xfrm>
            <a:off x="8686800" y="34107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estimate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868680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effort sizing used for velocity &amp; capacity planning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8458200" y="4572000"/>
            <a:ext cx="109728" cy="10972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0"/>
          <p:cNvSpPr/>
          <p:nvPr/>
        </p:nvSpPr>
        <p:spPr>
          <a:xfrm>
            <a:off x="8686800" y="4462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type icon</a:t>
            </a:r>
            <a:endParaRPr lang="en-US" sz="1200" dirty="0"/>
          </a:p>
        </p:txBody>
      </p:sp>
      <p:sp>
        <p:nvSpPr>
          <p:cNvPr id="48" name="Text 41"/>
          <p:cNvSpPr/>
          <p:nvPr/>
        </p:nvSpPr>
        <p:spPr>
          <a:xfrm>
            <a:off x="8686800" y="47548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Task, Bug, Epic — colour-coded for quick scanning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UI: The Sprint 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workspace the team uses daily to track progress during a sprint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937760"/>
          </a:xfrm>
          <a:prstGeom prst="roundRect">
            <a:avLst>
              <a:gd name="adj" fmla="val 926"/>
            </a:avLst>
          </a:prstGeom>
          <a:solidFill>
            <a:srgbClr val="F4F5F7"/>
          </a:solidFill>
          <a:ln w="12700">
            <a:solidFill>
              <a:srgbClr val="DFE1E6"/>
            </a:solidFill>
            <a:prstDash val="solid"/>
          </a:ln>
          <a:effectLst>
            <a:outerShdw blurRad="1270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444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 /  Sprint 14  /  Active Sprint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48716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245973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86968" y="269748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PGP encryption setup for SFTP feed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77240" y="324612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355848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332841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DPM-147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886968" y="356616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retry logic to token fetch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451860" y="201168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451860" y="237744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588" y="2487168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17620" y="245973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DPM-143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561588" y="269748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ORCID sequence collision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3451860" y="324612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588" y="3355848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17620" y="332841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DPM-144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3561588" y="356616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concurrency w/ semaphore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3451860" y="411480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588" y="4224528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17620" y="419709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DPM-148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3561588" y="443484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RDD restriction fix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6126480" y="201168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55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26480" y="237744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487168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92240" y="245973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DPM-140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6236208" y="269748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 pipeline template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8801100" y="2011680"/>
            <a:ext cx="2537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8801100" y="237744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28" y="2487168"/>
            <a:ext cx="201168" cy="20116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66860" y="245973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DPM-138</a:t>
            </a:r>
            <a:endParaRPr lang="en-US" sz="850" dirty="0"/>
          </a:p>
        </p:txBody>
      </p:sp>
      <p:sp>
        <p:nvSpPr>
          <p:cNvPr id="38" name="Text 29"/>
          <p:cNvSpPr/>
          <p:nvPr/>
        </p:nvSpPr>
        <p:spPr>
          <a:xfrm>
            <a:off x="8910828" y="269748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bearer token helper function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8801100" y="3246120"/>
            <a:ext cx="25374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0828" y="3355848"/>
            <a:ext cx="201168" cy="20116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66860" y="3328416"/>
            <a:ext cx="2080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DPM-139</a:t>
            </a:r>
            <a:endParaRPr lang="en-US" sz="850" dirty="0"/>
          </a:p>
        </p:txBody>
      </p:sp>
      <p:sp>
        <p:nvSpPr>
          <p:cNvPr id="42" name="Text 32"/>
          <p:cNvSpPr/>
          <p:nvPr/>
        </p:nvSpPr>
        <p:spPr>
          <a:xfrm>
            <a:off x="8910828" y="3566160"/>
            <a:ext cx="2318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 decimal pattern fix</a:t>
            </a:r>
            <a:endParaRPr lang="en-US" sz="850" dirty="0"/>
          </a:p>
        </p:txBody>
      </p:sp>
      <p:sp>
        <p:nvSpPr>
          <p:cNvPr id="43" name="Text 33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 UI: Issue Detail 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card to open full detail — description, status, comments, and history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15200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DFE1E6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7315200" cy="411480"/>
          </a:xfrm>
          <a:prstGeom prst="rect">
            <a:avLst/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5389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35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DPM-143   Fix ORCID sequence collision (PER-1532552)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7240" y="1920240"/>
            <a:ext cx="1371600" cy="320040"/>
          </a:xfrm>
          <a:prstGeom prst="roundRect">
            <a:avLst>
              <a:gd name="adj" fmla="val 114286"/>
            </a:avLst>
          </a:prstGeom>
          <a:solidFill>
            <a:srgbClr val="FFAB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C2340"/>
                </a:solidFill>
              </a:rPr>
              <a:t>IN PROGRESS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2743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sequence numbers collide when concurrent PATCH requests hit the ORCID_Inbound staging table. Add jittered backoff + per-row sequence locking in the Azure Function processor.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4069080"/>
            <a:ext cx="292608" cy="292608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123944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4087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RK: Added Retry adapter w/ urllib3 — testing token refresh path.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77240" y="4526280"/>
            <a:ext cx="292608" cy="292608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58114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4544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RK: Reproduced PER-1532552 on staging; root cause = race condition.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77240" y="4983480"/>
            <a:ext cx="292608" cy="292608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5038344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43000" y="5001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System: Status changed  To Do → In Progress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8138160" y="1371600"/>
            <a:ext cx="3566160" cy="5029200"/>
          </a:xfrm>
          <a:prstGeom prst="roundRect">
            <a:avLst>
              <a:gd name="adj" fmla="val 1282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8321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83210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978408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K.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832104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784080" y="23042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8321040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784080" y="26883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832104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784080" y="3072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14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8321040" y="3456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9784080" y="3456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832104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78408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oracle-fusion, hcm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8321040" y="4224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Version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9784080" y="4224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v2.4.1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Lifecycle in JIRA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repeating loop — this is what the team does every 2 weeks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3162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068" y="23500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 Sprint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prioritized backlog items into the sprint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54680" y="2880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4546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8328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36626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3500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Start Sprint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duration + goal, board activates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89320" y="2880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4546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20090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23500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Daily Standup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cards across columns as work progresses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23960" y="2880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4546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9052560" y="19202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003554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0988" y="235000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 &amp; Close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35440" y="3383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E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Complete/carry-over issues, sprint report generated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120640" y="4572000"/>
            <a:ext cx="109728" cy="109728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2"/>
          <p:cNvSpPr/>
          <p:nvPr/>
        </p:nvSpPr>
        <p:spPr>
          <a:xfrm>
            <a:off x="54864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continues → Sprint 15 planning begins right after closing Sprint 14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C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Quick Search (JQL)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8059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91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88720" y="1965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vs. time left in sprint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6746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5603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Chart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18872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 completed sprint over sprint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DEEB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5433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4290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Flow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188720" y="37033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 across statuses over time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59436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JQL — JIRA Query Language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943600" y="1188720"/>
            <a:ext cx="5669280" cy="3017520"/>
          </a:xfrm>
          <a:prstGeom prst="roundRect">
            <a:avLst>
              <a:gd name="adj" fmla="val 1818"/>
            </a:avLst>
          </a:prstGeom>
          <a:solidFill>
            <a:srgbClr val="0C23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6217920" y="14630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= DPM </a:t>
            </a:r>
            <a:r>
              <a:rPr lang="en-US" sz="1300" b="1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300" b="1" dirty="0">
                <a:solidFill>
                  <a:srgbClr val="7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"In Progress" </a:t>
            </a:r>
            <a:r>
              <a:rPr lang="en-US" sz="1300" b="1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300" b="1" dirty="0">
                <a:solidFill>
                  <a:srgbClr val="7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assignee = currentUser() </a:t>
            </a:r>
            <a:r>
              <a:rPr lang="en-US" sz="1300" b="1" dirty="0">
                <a:solidFill>
                  <a:srgbClr val="FFA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300" b="1" dirty="0">
                <a:solidFill>
                  <a:srgbClr val="79E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"oracle-fusion"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3108960"/>
            <a:ext cx="5120640" cy="18288"/>
          </a:xfrm>
          <a:prstGeom prst="rect">
            <a:avLst/>
          </a:prstGeom>
          <a:solidFill>
            <a:srgbClr val="3A557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6217920" y="32918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E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JQL to build custom filters and save them as dashboard widgets or personal shortcuts.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82296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2960" y="51206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 (top of JIRA) → type g then g → Quick navigate. Or open Filters → Advanced Issue Search to write JQL directly.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56362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4813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turns Agile ceremonies into trackable, auditable workflow data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3408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2585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→ Sprint Board → Done is the core operational loop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1810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035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follow a hierarchy: Epic → Story/Task → Sub-task, with Bugs anywhere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8953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8130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issue carries full context: assignee, status, comments, history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40080" y="4572000"/>
            <a:ext cx="457200" cy="4572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6725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80160" y="45902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JQL and Reports turn raw issue data into team &amp; stakeholder insight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Idea: Hands-on lab — create a project, log issues, and run a mock sprint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9445752" y="6492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Essentials  |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052CC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394960" y="1828800"/>
            <a:ext cx="1371600" cy="1371600"/>
          </a:xfrm>
          <a:prstGeom prst="ellipse">
            <a:avLst/>
          </a:prstGeom>
          <a:solidFill>
            <a:srgbClr val="0052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1488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474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E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Let's discuss anything you'd like to explore further in JIRA.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1294</TotalTime>
  <Words>937</Words>
  <Application>Microsoft Office PowerPoint</Application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JIRA Essentials Training</dc:title>
  <dc:subject>PptxGenJS Presentation</dc:subject>
  <dc:creator>Rishi</dc:creator>
  <cp:lastModifiedBy>Rishi Kesavan</cp:lastModifiedBy>
  <cp:revision>3</cp:revision>
  <dcterms:created xsi:type="dcterms:W3CDTF">2026-07-08T05:55:14Z</dcterms:created>
  <dcterms:modified xsi:type="dcterms:W3CDTF">2026-07-09T03:50:38Z</dcterms:modified>
</cp:coreProperties>
</file>